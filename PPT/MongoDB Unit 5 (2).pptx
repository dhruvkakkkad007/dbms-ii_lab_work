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3"/>
  </p:notesMasterIdLst>
  <p:sldIdLst>
    <p:sldId id="309" r:id="rId2"/>
    <p:sldId id="292" r:id="rId3"/>
    <p:sldId id="310" r:id="rId4"/>
    <p:sldId id="768" r:id="rId5"/>
    <p:sldId id="798" r:id="rId6"/>
    <p:sldId id="800" r:id="rId7"/>
    <p:sldId id="769" r:id="rId8"/>
    <p:sldId id="770" r:id="rId9"/>
    <p:sldId id="771" r:id="rId10"/>
    <p:sldId id="772" r:id="rId11"/>
    <p:sldId id="801" r:id="rId12"/>
    <p:sldId id="802" r:id="rId13"/>
    <p:sldId id="717" r:id="rId14"/>
    <p:sldId id="761" r:id="rId15"/>
    <p:sldId id="846" r:id="rId16"/>
    <p:sldId id="845" r:id="rId17"/>
    <p:sldId id="762" r:id="rId18"/>
    <p:sldId id="803" r:id="rId19"/>
    <p:sldId id="841" r:id="rId20"/>
    <p:sldId id="799" r:id="rId21"/>
    <p:sldId id="842" r:id="rId22"/>
    <p:sldId id="843" r:id="rId23"/>
    <p:sldId id="844" r:id="rId24"/>
    <p:sldId id="764" r:id="rId25"/>
    <p:sldId id="765" r:id="rId26"/>
    <p:sldId id="804" r:id="rId27"/>
    <p:sldId id="805" r:id="rId28"/>
    <p:sldId id="595" r:id="rId29"/>
    <p:sldId id="766" r:id="rId30"/>
    <p:sldId id="767" r:id="rId31"/>
    <p:sldId id="852" r:id="rId32"/>
    <p:sldId id="851" r:id="rId33"/>
    <p:sldId id="741" r:id="rId34"/>
    <p:sldId id="796" r:id="rId35"/>
    <p:sldId id="853" r:id="rId36"/>
    <p:sldId id="797" r:id="rId37"/>
    <p:sldId id="646" r:id="rId38"/>
    <p:sldId id="840" r:id="rId39"/>
    <p:sldId id="849" r:id="rId40"/>
    <p:sldId id="774" r:id="rId41"/>
    <p:sldId id="835" r:id="rId42"/>
    <p:sldId id="848" r:id="rId43"/>
    <p:sldId id="847" r:id="rId44"/>
    <p:sldId id="850" r:id="rId45"/>
    <p:sldId id="654" r:id="rId46"/>
    <p:sldId id="775" r:id="rId47"/>
    <p:sldId id="776" r:id="rId48"/>
    <p:sldId id="651" r:id="rId49"/>
    <p:sldId id="788" r:id="rId50"/>
    <p:sldId id="789" r:id="rId51"/>
    <p:sldId id="752" r:id="rId52"/>
    <p:sldId id="786" r:id="rId53"/>
    <p:sldId id="854" r:id="rId54"/>
    <p:sldId id="855" r:id="rId55"/>
    <p:sldId id="856" r:id="rId56"/>
    <p:sldId id="808" r:id="rId57"/>
    <p:sldId id="809" r:id="rId58"/>
    <p:sldId id="814" r:id="rId59"/>
    <p:sldId id="815" r:id="rId60"/>
    <p:sldId id="836" r:id="rId61"/>
    <p:sldId id="838" r:id="rId62"/>
    <p:sldId id="839" r:id="rId63"/>
    <p:sldId id="837" r:id="rId64"/>
    <p:sldId id="816" r:id="rId65"/>
    <p:sldId id="817" r:id="rId66"/>
    <p:sldId id="819" r:id="rId67"/>
    <p:sldId id="857" r:id="rId68"/>
    <p:sldId id="858" r:id="rId69"/>
    <p:sldId id="859" r:id="rId70"/>
    <p:sldId id="821" r:id="rId71"/>
    <p:sldId id="823" r:id="rId72"/>
    <p:sldId id="860" r:id="rId73"/>
    <p:sldId id="831" r:id="rId74"/>
    <p:sldId id="790" r:id="rId75"/>
    <p:sldId id="861" r:id="rId76"/>
    <p:sldId id="862" r:id="rId77"/>
    <p:sldId id="863" r:id="rId78"/>
    <p:sldId id="793" r:id="rId79"/>
    <p:sldId id="794" r:id="rId80"/>
    <p:sldId id="864" r:id="rId81"/>
    <p:sldId id="387" r:id="rId82"/>
  </p:sldIdLst>
  <p:sldSz cx="12192000" cy="6858000"/>
  <p:notesSz cx="6858000" cy="9144000"/>
  <p:embeddedFontLst>
    <p:embeddedFont>
      <p:font typeface="Roboto Condensed" panose="02000000000000000000" pitchFamily="2" charset="0"/>
      <p:regular r:id="rId84"/>
      <p:bold r:id="rId85"/>
      <p:italic r:id="rId86"/>
      <p:boldItalic r:id="rId87"/>
    </p:embeddedFont>
    <p:embeddedFont>
      <p:font typeface="Roboto Condensed Light" panose="02000000000000000000" pitchFamily="2" charset="0"/>
      <p:regular r:id="rId88"/>
      <p:italic r:id="rId89"/>
    </p:embeddedFont>
    <p:embeddedFont>
      <p:font typeface="Wingdings 2" panose="05020102010507070707" pitchFamily="18" charset="2"/>
      <p:regular r:id="rId90"/>
    </p:embeddedFont>
    <p:embeddedFont>
      <p:font typeface="Wingdings 3" panose="05040102010807070707" pitchFamily="18" charset="2"/>
      <p:regular r:id="rId9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RP5FfD/nozFC6WLi4LAtCg==" hashData="iGn1wPesz1u0uRiyUmxhCFLiCe9iLHtN5iE8zePtzQfe3lNrGCj4x/28TQZ8IpJZVokJXEjuCO5T3BXCTri5h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673BB7"/>
    <a:srgbClr val="607D8B"/>
    <a:srgbClr val="ED524F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37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7.fntdata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2.fntdata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font" Target="fonts/font5.fntdata"/><Relationship Id="rId91" Type="http://schemas.openxmlformats.org/officeDocument/2006/relationships/font" Target="fonts/font8.fntdata"/><Relationship Id="rId9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3.fntdata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B8FEFFE4-5A32-4D5D-8BBB-85E3A21C2667}"/>
    <pc:docChg chg="custSel modSld modMainMaster">
      <pc:chgData name="Naimish Vadodariya" userId="d2e325c0593a319e" providerId="LiveId" clId="{B8FEFFE4-5A32-4D5D-8BBB-85E3A21C2667}" dt="2022-04-25T03:59:30.740" v="242" actId="478"/>
      <pc:docMkLst>
        <pc:docMk/>
      </pc:docMkLst>
      <pc:sldChg chg="modSp mod">
        <pc:chgData name="Naimish Vadodariya" userId="d2e325c0593a319e" providerId="LiveId" clId="{B8FEFFE4-5A32-4D5D-8BBB-85E3A21C2667}" dt="2022-04-25T03:47:19.824" v="72" actId="14826"/>
        <pc:sldMkLst>
          <pc:docMk/>
          <pc:sldMk cId="1600834761" sldId="309"/>
        </pc:sldMkLst>
        <pc:spChg chg="mod">
          <ac:chgData name="Naimish Vadodariya" userId="d2e325c0593a319e" providerId="LiveId" clId="{B8FEFFE4-5A32-4D5D-8BBB-85E3A21C2667}" dt="2022-04-25T03:45:41.260" v="61" actId="20577"/>
          <ac:spMkLst>
            <pc:docMk/>
            <pc:sldMk cId="1600834761" sldId="309"/>
            <ac:spMk id="10" creationId="{4F27F027-AAC9-4C88-B3AF-3C4A20BDDDA6}"/>
          </ac:spMkLst>
        </pc:spChg>
        <pc:spChg chg="mod">
          <ac:chgData name="Naimish Vadodariya" userId="d2e325c0593a319e" providerId="LiveId" clId="{B8FEFFE4-5A32-4D5D-8BBB-85E3A21C2667}" dt="2022-04-25T03:45:48.557" v="71" actId="20577"/>
          <ac:spMkLst>
            <pc:docMk/>
            <pc:sldMk cId="1600834761" sldId="309"/>
            <ac:spMk id="11" creationId="{59B646FF-BD32-4C5A-94AF-AC4347EADA2E}"/>
          </ac:spMkLst>
        </pc:spChg>
        <pc:spChg chg="mod">
          <ac:chgData name="Naimish Vadodariya" userId="d2e325c0593a319e" providerId="LiveId" clId="{B8FEFFE4-5A32-4D5D-8BBB-85E3A21C2667}" dt="2022-04-25T03:45:12.102" v="24" actId="20577"/>
          <ac:spMkLst>
            <pc:docMk/>
            <pc:sldMk cId="1600834761" sldId="309"/>
            <ac:spMk id="13" creationId="{89F5B5F8-350F-4941-B9DE-36BF8B014803}"/>
          </ac:spMkLst>
        </pc:spChg>
        <pc:spChg chg="mod">
          <ac:chgData name="Naimish Vadodariya" userId="d2e325c0593a319e" providerId="LiveId" clId="{B8FEFFE4-5A32-4D5D-8BBB-85E3A21C2667}" dt="2022-04-25T03:45:31.613" v="42" actId="20577"/>
          <ac:spMkLst>
            <pc:docMk/>
            <pc:sldMk cId="1600834761" sldId="309"/>
            <ac:spMk id="14" creationId="{E2AD8B6E-51EA-4A15-8752-4F221E5E02C5}"/>
          </ac:spMkLst>
        </pc:spChg>
        <pc:picChg chg="mod">
          <ac:chgData name="Naimish Vadodariya" userId="d2e325c0593a319e" providerId="LiveId" clId="{B8FEFFE4-5A32-4D5D-8BBB-85E3A21C2667}" dt="2022-04-25T03:47:19.824" v="72" actId="14826"/>
          <ac:picMkLst>
            <pc:docMk/>
            <pc:sldMk cId="1600834761" sldId="309"/>
            <ac:picMk id="2" creationId="{00000000-0000-0000-0000-000000000000}"/>
          </ac:picMkLst>
        </pc:picChg>
      </pc:sldChg>
      <pc:sldChg chg="modSp mod">
        <pc:chgData name="Naimish Vadodariya" userId="d2e325c0593a319e" providerId="LiveId" clId="{B8FEFFE4-5A32-4D5D-8BBB-85E3A21C2667}" dt="2022-04-25T03:58:42.662" v="213" actId="20577"/>
        <pc:sldMkLst>
          <pc:docMk/>
          <pc:sldMk cId="1693413271" sldId="387"/>
        </pc:sldMkLst>
        <pc:spChg chg="mod">
          <ac:chgData name="Naimish Vadodariya" userId="d2e325c0593a319e" providerId="LiveId" clId="{B8FEFFE4-5A32-4D5D-8BBB-85E3A21C2667}" dt="2022-04-25T03:57:29.055" v="148" actId="20577"/>
          <ac:spMkLst>
            <pc:docMk/>
            <pc:sldMk cId="1693413271" sldId="387"/>
            <ac:spMk id="27" creationId="{E2AD8B6E-51EA-4A15-8752-4F221E5E02C5}"/>
          </ac:spMkLst>
        </pc:spChg>
        <pc:spChg chg="mod">
          <ac:chgData name="Naimish Vadodariya" userId="d2e325c0593a319e" providerId="LiveId" clId="{B8FEFFE4-5A32-4D5D-8BBB-85E3A21C2667}" dt="2022-04-25T03:58:38.850" v="203" actId="20577"/>
          <ac:spMkLst>
            <pc:docMk/>
            <pc:sldMk cId="1693413271" sldId="387"/>
            <ac:spMk id="28" creationId="{4F27F027-AAC9-4C88-B3AF-3C4A20BDDDA6}"/>
          </ac:spMkLst>
        </pc:spChg>
        <pc:spChg chg="mod">
          <ac:chgData name="Naimish Vadodariya" userId="d2e325c0593a319e" providerId="LiveId" clId="{B8FEFFE4-5A32-4D5D-8BBB-85E3A21C2667}" dt="2022-04-25T03:58:42.662" v="213" actId="20577"/>
          <ac:spMkLst>
            <pc:docMk/>
            <pc:sldMk cId="1693413271" sldId="387"/>
            <ac:spMk id="29" creationId="{59B646FF-BD32-4C5A-94AF-AC4347EADA2E}"/>
          </ac:spMkLst>
        </pc:spChg>
        <pc:spChg chg="mod">
          <ac:chgData name="Naimish Vadodariya" userId="d2e325c0593a319e" providerId="LiveId" clId="{B8FEFFE4-5A32-4D5D-8BBB-85E3A21C2667}" dt="2022-04-25T03:57:58.304" v="183" actId="20577"/>
          <ac:spMkLst>
            <pc:docMk/>
            <pc:sldMk cId="1693413271" sldId="387"/>
            <ac:spMk id="31" creationId="{89F5B5F8-350F-4941-B9DE-36BF8B014803}"/>
          </ac:spMkLst>
        </pc:spChg>
        <pc:picChg chg="mod">
          <ac:chgData name="Naimish Vadodariya" userId="d2e325c0593a319e" providerId="LiveId" clId="{B8FEFFE4-5A32-4D5D-8BBB-85E3A21C2667}" dt="2022-04-25T03:58:32.029" v="184" actId="14826"/>
          <ac:picMkLst>
            <pc:docMk/>
            <pc:sldMk cId="1693413271" sldId="387"/>
            <ac:picMk id="32" creationId="{00000000-0000-0000-0000-000000000000}"/>
          </ac:picMkLst>
        </pc:picChg>
      </pc:sldChg>
      <pc:sldMasterChg chg="modSldLayout">
        <pc:chgData name="Naimish Vadodariya" userId="d2e325c0593a319e" providerId="LiveId" clId="{B8FEFFE4-5A32-4D5D-8BBB-85E3A21C2667}" dt="2022-04-25T03:59:30.740" v="242" actId="478"/>
        <pc:sldMasterMkLst>
          <pc:docMk/>
          <pc:sldMasterMk cId="791954662" sldId="2147483648"/>
        </pc:sldMasterMkLst>
        <pc:sldLayoutChg chg="modSp mod">
          <pc:chgData name="Naimish Vadodariya" userId="d2e325c0593a319e" providerId="LiveId" clId="{B8FEFFE4-5A32-4D5D-8BBB-85E3A21C2667}" dt="2022-04-25T03:48:34.302" v="132" actId="20577"/>
          <pc:sldLayoutMkLst>
            <pc:docMk/>
            <pc:sldMasterMk cId="791954662" sldId="2147483648"/>
            <pc:sldLayoutMk cId="3466633316" sldId="2147483670"/>
          </pc:sldLayoutMkLst>
          <pc:spChg chg="mod">
            <ac:chgData name="Naimish Vadodariya" userId="d2e325c0593a319e" providerId="LiveId" clId="{B8FEFFE4-5A32-4D5D-8BBB-85E3A21C2667}" dt="2022-04-25T03:48:22.631" v="122" actId="20577"/>
            <ac:spMkLst>
              <pc:docMk/>
              <pc:sldMasterMk cId="791954662" sldId="2147483648"/>
              <pc:sldLayoutMk cId="3466633316" sldId="2147483670"/>
              <ac:spMk id="19" creationId="{CA463A36-7025-4394-9467-8A3EC3425B00}"/>
            </ac:spMkLst>
          </pc:spChg>
          <pc:spChg chg="mod">
            <ac:chgData name="Naimish Vadodariya" userId="d2e325c0593a319e" providerId="LiveId" clId="{B8FEFFE4-5A32-4D5D-8BBB-85E3A21C2667}" dt="2022-04-25T03:48:34.302" v="132" actId="20577"/>
            <ac:spMkLst>
              <pc:docMk/>
              <pc:sldMasterMk cId="791954662" sldId="2147483648"/>
              <pc:sldLayoutMk cId="3466633316" sldId="2147483670"/>
              <ac:spMk id="22" creationId="{BF2BE79E-EA17-4AB9-8CB5-714A52A6B2F5}"/>
            </ac:spMkLst>
          </pc:spChg>
        </pc:sldLayoutChg>
        <pc:sldLayoutChg chg="delSp">
          <pc:chgData name="Naimish Vadodariya" userId="d2e325c0593a319e" providerId="LiveId" clId="{B8FEFFE4-5A32-4D5D-8BBB-85E3A21C2667}" dt="2022-04-25T03:59:30.740" v="242" actId="478"/>
          <pc:sldLayoutMkLst>
            <pc:docMk/>
            <pc:sldMasterMk cId="791954662" sldId="2147483648"/>
            <pc:sldLayoutMk cId="2731625911" sldId="2147483679"/>
          </pc:sldLayoutMkLst>
          <pc:picChg chg="del">
            <ac:chgData name="Naimish Vadodariya" userId="d2e325c0593a319e" providerId="LiveId" clId="{B8FEFFE4-5A32-4D5D-8BBB-85E3A21C2667}" dt="2022-04-25T03:59:30.740" v="242" actId="478"/>
            <ac:picMkLst>
              <pc:docMk/>
              <pc:sldMasterMk cId="791954662" sldId="2147483648"/>
              <pc:sldLayoutMk cId="2731625911" sldId="2147483679"/>
              <ac:picMk id="35" creationId="{00000000-0000-0000-0000-000000000000}"/>
            </ac:picMkLst>
          </pc:picChg>
        </pc:sldLayoutChg>
        <pc:sldLayoutChg chg="modSp mod">
          <pc:chgData name="Naimish Vadodariya" userId="d2e325c0593a319e" providerId="LiveId" clId="{B8FEFFE4-5A32-4D5D-8BBB-85E3A21C2667}" dt="2022-04-25T03:59:06.730" v="241" actId="20577"/>
          <pc:sldLayoutMkLst>
            <pc:docMk/>
            <pc:sldMasterMk cId="791954662" sldId="2147483648"/>
            <pc:sldLayoutMk cId="4202761244" sldId="2147483687"/>
          </pc:sldLayoutMkLst>
          <pc:spChg chg="mod">
            <ac:chgData name="Naimish Vadodariya" userId="d2e325c0593a319e" providerId="LiveId" clId="{B8FEFFE4-5A32-4D5D-8BBB-85E3A21C2667}" dt="2022-04-25T03:58:58.746" v="233" actId="20577"/>
            <ac:spMkLst>
              <pc:docMk/>
              <pc:sldMasterMk cId="791954662" sldId="2147483648"/>
              <pc:sldLayoutMk cId="4202761244" sldId="2147483687"/>
              <ac:spMk id="19" creationId="{CA463A36-7025-4394-9467-8A3EC3425B00}"/>
            </ac:spMkLst>
          </pc:spChg>
          <pc:spChg chg="mod">
            <ac:chgData name="Naimish Vadodariya" userId="d2e325c0593a319e" providerId="LiveId" clId="{B8FEFFE4-5A32-4D5D-8BBB-85E3A21C2667}" dt="2022-04-25T03:59:06.730" v="241" actId="20577"/>
            <ac:spMkLst>
              <pc:docMk/>
              <pc:sldMasterMk cId="791954662" sldId="2147483648"/>
              <pc:sldLayoutMk cId="4202761244" sldId="2147483687"/>
              <ac:spMk id="22" creationId="{BF2BE79E-EA17-4AB9-8CB5-714A52A6B2F5}"/>
            </ac:spMkLst>
          </pc:spChg>
        </pc:sldLayoutChg>
        <pc:sldLayoutChg chg="modSp mod">
          <pc:chgData name="Naimish Vadodariya" userId="d2e325c0593a319e" providerId="LiveId" clId="{B8FEFFE4-5A32-4D5D-8BBB-85E3A21C2667}" dt="2022-04-25T03:47:49.659" v="102" actId="20577"/>
          <pc:sldLayoutMkLst>
            <pc:docMk/>
            <pc:sldMasterMk cId="791954662" sldId="2147483648"/>
            <pc:sldLayoutMk cId="346862853" sldId="2147483688"/>
          </pc:sldLayoutMkLst>
          <pc:spChg chg="mod">
            <ac:chgData name="Naimish Vadodariya" userId="d2e325c0593a319e" providerId="LiveId" clId="{B8FEFFE4-5A32-4D5D-8BBB-85E3A21C2667}" dt="2022-04-25T03:47:39.065" v="94" actId="20577"/>
            <ac:spMkLst>
              <pc:docMk/>
              <pc:sldMasterMk cId="791954662" sldId="2147483648"/>
              <pc:sldLayoutMk cId="346862853" sldId="2147483688"/>
              <ac:spMk id="19" creationId="{CA463A36-7025-4394-9467-8A3EC3425B00}"/>
            </ac:spMkLst>
          </pc:spChg>
          <pc:spChg chg="mod">
            <ac:chgData name="Naimish Vadodariya" userId="d2e325c0593a319e" providerId="LiveId" clId="{B8FEFFE4-5A32-4D5D-8BBB-85E3A21C2667}" dt="2022-04-25T03:47:49.659" v="102" actId="20577"/>
            <ac:spMkLst>
              <pc:docMk/>
              <pc:sldMasterMk cId="791954662" sldId="2147483648"/>
              <pc:sldLayoutMk cId="346862853" sldId="2147483688"/>
              <ac:spMk id="22" creationId="{BF2BE79E-EA17-4AB9-8CB5-714A52A6B2F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4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Firoz A. Sherasiya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64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Query Processing &amp; Query Optimization and Transaction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953140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Firoz A. Sherasiya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4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#2301CS401 (DBMS-II)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</a:t>
            </a:r>
            <a:r>
              <a:rPr lang="en-GB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Advanced MongoDB Concepts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Firoz A. Sherasiya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64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Query Processing &amp; Query Optimization and Transaction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18558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6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microsoft.com/office/2007/relationships/hdphoto" Target="../media/hdphoto4.wdp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microsoft.com/office/2007/relationships/hdphoto" Target="../media/hdphoto4.wdp"/><Relationship Id="rId4" Type="http://schemas.openxmlformats.org/officeDocument/2006/relationships/image" Target="../media/image22.png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microsoft.com/office/2007/relationships/hdphoto" Target="../media/hdphoto4.wdp"/><Relationship Id="rId4" Type="http://schemas.openxmlformats.org/officeDocument/2006/relationships/image" Target="../media/image2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9367025" cy="3456518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</a:t>
            </a:r>
            <a:br>
              <a:rPr lang="en-US" dirty="0"/>
            </a:br>
            <a:r>
              <a:rPr lang="en-US" dirty="0"/>
              <a:t>Advanced </a:t>
            </a:r>
            <a:br>
              <a:rPr lang="en-US" dirty="0"/>
            </a:br>
            <a:r>
              <a:rPr lang="en-US" dirty="0"/>
              <a:t>MongoDB Concepts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firoz.sherasiya@darshan.ac.in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9879879861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Firoz A. Sherasiya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Database Management System-II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(DBMS-II)</a:t>
            </a:r>
          </a:p>
          <a:p>
            <a:r>
              <a:rPr lang="en-US" dirty="0"/>
              <a:t>#2301CS401</a:t>
            </a:r>
          </a:p>
        </p:txBody>
      </p:sp>
      <p:pic>
        <p:nvPicPr>
          <p:cNvPr id="6" name="Picture Placeholder 1">
            <a:extLst>
              <a:ext uri="{FF2B5EF4-FFF2-40B4-BE49-F238E27FC236}">
                <a16:creationId xmlns:a16="http://schemas.microsoft.com/office/drawing/2014/main" id="{B932B675-90F9-BBC4-8B7D-9AE150F8943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638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9B8514BE-9C44-832E-3059-5100E2B46694}"/>
              </a:ext>
            </a:extLst>
          </p:cNvPr>
          <p:cNvSpPr txBox="1">
            <a:spLocks/>
          </p:cNvSpPr>
          <p:nvPr/>
        </p:nvSpPr>
        <p:spPr>
          <a:xfrm>
            <a:off x="592977" y="3691972"/>
            <a:ext cx="6948000" cy="62247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20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Course Outcome (CO - 5)</a:t>
            </a:r>
            <a:br>
              <a:rPr lang="en-US" sz="2000" dirty="0"/>
            </a:br>
            <a:r>
              <a:rPr lang="en-US" sz="2000" b="0" dirty="0">
                <a:effectLst/>
              </a:rPr>
              <a:t>execute advanced level queries with document database </a:t>
            </a:r>
            <a:r>
              <a:rPr lang="en-US" sz="2000" b="0" dirty="0" err="1">
                <a:effectLst/>
              </a:rPr>
              <a:t>mongoDB</a:t>
            </a:r>
            <a:r>
              <a:rPr lang="en-US" sz="2000" b="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083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742954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Regex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Aggregation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Indexes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Cursor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Schema 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Embedded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Create user &amp; add role in MongoDB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Backup and Recovery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Time Series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BASE Properties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The Cap Theorem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Replication and Sharding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Regex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3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3444"/>
            <a:ext cx="5940000" cy="108000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In SQL </a:t>
            </a:r>
          </a:p>
          <a:p>
            <a:pPr lvl="1"/>
            <a:r>
              <a:rPr lang="en-US" dirty="0"/>
              <a:t>Which clause is used for Pattern Matching?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LIKE</a:t>
            </a:r>
            <a:r>
              <a:rPr lang="en-US" dirty="0"/>
              <a:t> clause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959CEB-5A56-50A8-4391-092837A993F4}"/>
              </a:ext>
            </a:extLst>
          </p:cNvPr>
          <p:cNvSpPr txBox="1">
            <a:spLocks/>
          </p:cNvSpPr>
          <p:nvPr/>
        </p:nvSpPr>
        <p:spPr>
          <a:xfrm>
            <a:off x="6192974" y="863444"/>
            <a:ext cx="5940000" cy="1080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MongoDB </a:t>
            </a:r>
          </a:p>
          <a:p>
            <a:pPr lvl="1"/>
            <a:r>
              <a:rPr lang="en-US" dirty="0"/>
              <a:t>Which clause is used for Pattern Matching?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Regex</a:t>
            </a:r>
            <a:r>
              <a:rPr lang="en-US" dirty="0"/>
              <a:t> (</a:t>
            </a:r>
            <a:r>
              <a:rPr lang="en-IN" dirty="0"/>
              <a:t>Regular expression</a:t>
            </a:r>
            <a:r>
              <a:rPr lang="en-US" dirty="0"/>
              <a:t>) clause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F3F9212-8637-227F-4596-D9A28FCE3431}"/>
              </a:ext>
            </a:extLst>
          </p:cNvPr>
          <p:cNvSpPr txBox="1">
            <a:spLocks/>
          </p:cNvSpPr>
          <p:nvPr/>
        </p:nvSpPr>
        <p:spPr>
          <a:xfrm>
            <a:off x="131178" y="1985668"/>
            <a:ext cx="5940000" cy="4392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SQL (Student)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 the detail student whose </a:t>
            </a:r>
            <a:r>
              <a:rPr lang="en-US" dirty="0" err="1"/>
              <a:t>Fname</a:t>
            </a:r>
            <a:r>
              <a:rPr lang="en-US" dirty="0"/>
              <a:t> contains ‘Raj’.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	SELECT * FROM student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	WHERE </a:t>
            </a:r>
            <a:r>
              <a:rPr lang="en-US" dirty="0" err="1"/>
              <a:t>Fname</a:t>
            </a:r>
            <a:r>
              <a:rPr lang="en-US" dirty="0"/>
              <a:t> LIKE ‘%Raj%’</a:t>
            </a:r>
          </a:p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F1D4B8-99BF-F309-8B19-36310DD093A7}"/>
              </a:ext>
            </a:extLst>
          </p:cNvPr>
          <p:cNvSpPr txBox="1">
            <a:spLocks/>
          </p:cNvSpPr>
          <p:nvPr/>
        </p:nvSpPr>
        <p:spPr>
          <a:xfrm>
            <a:off x="6192974" y="1985666"/>
            <a:ext cx="5940000" cy="4536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MongoDB (Student)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800" dirty="0"/>
              <a:t>{</a:t>
            </a:r>
            <a:r>
              <a:rPr lang="en-US" sz="1800" dirty="0" err="1"/>
              <a:t>Rno</a:t>
            </a:r>
            <a:r>
              <a:rPr lang="en-US" sz="1800" dirty="0"/>
              <a:t>: 101, FName: Raj, </a:t>
            </a:r>
            <a:r>
              <a:rPr lang="en-US" sz="1800" dirty="0" err="1"/>
              <a:t>Lname</a:t>
            </a:r>
            <a:r>
              <a:rPr lang="en-US" sz="1800" dirty="0"/>
              <a:t>: Patel}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102, FName: Rajesh, </a:t>
            </a:r>
            <a:r>
              <a:rPr lang="en-US" sz="1800" dirty="0" err="1"/>
              <a:t>Lname</a:t>
            </a:r>
            <a:r>
              <a:rPr lang="en-US" sz="1800" dirty="0"/>
              <a:t>: Shah}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103, FName: Meet, </a:t>
            </a:r>
            <a:r>
              <a:rPr lang="en-US" sz="1800" dirty="0" err="1"/>
              <a:t>Lname</a:t>
            </a:r>
            <a:r>
              <a:rPr lang="en-US" sz="1800" dirty="0"/>
              <a:t>: Dave} 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104, FName: Mayur, </a:t>
            </a:r>
            <a:r>
              <a:rPr lang="en-US" sz="1800" dirty="0" err="1"/>
              <a:t>Lname</a:t>
            </a:r>
            <a:r>
              <a:rPr lang="en-US" sz="1800" dirty="0"/>
              <a:t>: Solanki}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105, FName: Hansraj, </a:t>
            </a:r>
            <a:r>
              <a:rPr lang="en-US" sz="1800" dirty="0" err="1"/>
              <a:t>Lname</a:t>
            </a:r>
            <a:r>
              <a:rPr lang="en-US" sz="1800" dirty="0"/>
              <a:t>: Dave}</a:t>
            </a:r>
          </a:p>
          <a:p>
            <a:r>
              <a:rPr lang="en-US" dirty="0"/>
              <a:t>Display the detail student whose </a:t>
            </a:r>
            <a:r>
              <a:rPr lang="en-US" dirty="0" err="1"/>
              <a:t>Fname</a:t>
            </a:r>
            <a:r>
              <a:rPr lang="en-US" dirty="0"/>
              <a:t> contains ‘Raj’.</a:t>
            </a:r>
          </a:p>
          <a:p>
            <a:pPr marL="536575" indent="0">
              <a:buNone/>
            </a:pPr>
            <a:r>
              <a:rPr lang="en-US" dirty="0" err="1"/>
              <a:t>db.student.find</a:t>
            </a:r>
            <a:r>
              <a:rPr lang="en-US" dirty="0"/>
              <a:t>({FName:{$regex: "Raj"}})</a:t>
            </a:r>
          </a:p>
          <a:p>
            <a:pPr marL="536575" indent="0">
              <a:buNone/>
            </a:pPr>
            <a:r>
              <a:rPr lang="en-US" b="1" dirty="0"/>
              <a:t>OR</a:t>
            </a:r>
          </a:p>
          <a:p>
            <a:pPr marL="536575" indent="0">
              <a:buNone/>
            </a:pPr>
            <a:r>
              <a:rPr lang="en-US" dirty="0" err="1"/>
              <a:t>db.student.find</a:t>
            </a:r>
            <a:r>
              <a:rPr lang="en-US" dirty="0"/>
              <a:t>({FName:/Raj/})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34F123-1C67-F689-18E4-5E8E067C0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777211"/>
              </p:ext>
            </p:extLst>
          </p:nvPr>
        </p:nvGraphicFramePr>
        <p:xfrm>
          <a:off x="420914" y="2449180"/>
          <a:ext cx="3048000" cy="22250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16162">
                  <a:extLst>
                    <a:ext uri="{9D8B030D-6E8A-4147-A177-3AD203B41FA5}">
                      <a16:colId xmlns:a16="http://schemas.microsoft.com/office/drawing/2014/main" val="825813101"/>
                    </a:ext>
                  </a:extLst>
                </a:gridCol>
                <a:gridCol w="1233295">
                  <a:extLst>
                    <a:ext uri="{9D8B030D-6E8A-4147-A177-3AD203B41FA5}">
                      <a16:colId xmlns:a16="http://schemas.microsoft.com/office/drawing/2014/main" val="2863464899"/>
                    </a:ext>
                  </a:extLst>
                </a:gridCol>
                <a:gridCol w="898543">
                  <a:extLst>
                    <a:ext uri="{9D8B030D-6E8A-4147-A177-3AD203B41FA5}">
                      <a16:colId xmlns:a16="http://schemas.microsoft.com/office/drawing/2014/main" val="3744165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5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48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Rajesh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4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08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Solanki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98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Hansraj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573866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359F54B-B558-C433-680C-DE847FDA8E0A}"/>
              </a:ext>
            </a:extLst>
          </p:cNvPr>
          <p:cNvSpPr/>
          <p:nvPr/>
        </p:nvSpPr>
        <p:spPr>
          <a:xfrm>
            <a:off x="3649211" y="5984254"/>
            <a:ext cx="743177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D51E99-39F5-A317-0E41-3A81FDF3213E}"/>
              </a:ext>
            </a:extLst>
          </p:cNvPr>
          <p:cNvCxnSpPr>
            <a:cxnSpLocks/>
          </p:cNvCxnSpPr>
          <p:nvPr/>
        </p:nvCxnSpPr>
        <p:spPr>
          <a:xfrm>
            <a:off x="6096000" y="780311"/>
            <a:ext cx="24824" cy="57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E2181EA-E6E5-610E-BAFC-9969A9893ADF}"/>
              </a:ext>
            </a:extLst>
          </p:cNvPr>
          <p:cNvSpPr/>
          <p:nvPr/>
        </p:nvSpPr>
        <p:spPr>
          <a:xfrm>
            <a:off x="8875839" y="5669276"/>
            <a:ext cx="896811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602F3-35A4-7AD2-D7F5-182118BF687A}"/>
              </a:ext>
            </a:extLst>
          </p:cNvPr>
          <p:cNvSpPr/>
          <p:nvPr/>
        </p:nvSpPr>
        <p:spPr>
          <a:xfrm>
            <a:off x="9772650" y="5212066"/>
            <a:ext cx="1709738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AF9A17-46B2-64E2-9F5D-519890825351}"/>
              </a:ext>
            </a:extLst>
          </p:cNvPr>
          <p:cNvSpPr/>
          <p:nvPr/>
        </p:nvSpPr>
        <p:spPr>
          <a:xfrm>
            <a:off x="8866313" y="6142372"/>
            <a:ext cx="896811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CDA52A-550C-28D6-64F7-7F29F3883593}"/>
              </a:ext>
            </a:extLst>
          </p:cNvPr>
          <p:cNvSpPr/>
          <p:nvPr/>
        </p:nvSpPr>
        <p:spPr>
          <a:xfrm>
            <a:off x="9772650" y="6143279"/>
            <a:ext cx="590551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54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4B2E-3D1C-D6C4-3224-577D6A1DF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CBD2-337E-D86F-8A89-B45C1178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2EAF0-BAD7-5D7A-6BEB-490CD818E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 provides the functionality to search a pattern in a string during a query by writing a regular expression. </a:t>
            </a:r>
          </a:p>
          <a:p>
            <a:r>
              <a:rPr lang="en-US" dirty="0"/>
              <a:t>A regular expression is a </a:t>
            </a:r>
            <a:r>
              <a:rPr lang="en-US" dirty="0">
                <a:solidFill>
                  <a:schemeClr val="accent6"/>
                </a:solidFill>
              </a:rPr>
              <a:t>generalized way to match patterns with sequences of characters</a:t>
            </a:r>
            <a:r>
              <a:rPr lang="en-US" dirty="0"/>
              <a:t>. </a:t>
            </a:r>
          </a:p>
          <a:p>
            <a:r>
              <a:rPr lang="en-US" dirty="0"/>
              <a:t>In </a:t>
            </a:r>
            <a:r>
              <a:rPr lang="en-US" dirty="0" err="1"/>
              <a:t>MongoDB</a:t>
            </a:r>
            <a:r>
              <a:rPr lang="en-US" dirty="0"/>
              <a:t>, we can do pattern matching in two different ways:</a:t>
            </a:r>
          </a:p>
          <a:p>
            <a:pPr lvl="1"/>
            <a:r>
              <a:rPr lang="en-US" dirty="0"/>
              <a:t>With $regex operator</a:t>
            </a:r>
          </a:p>
          <a:p>
            <a:pPr lvl="1"/>
            <a:r>
              <a:rPr lang="en-US" dirty="0"/>
              <a:t>Without $regex operator</a:t>
            </a:r>
          </a:p>
        </p:txBody>
      </p:sp>
    </p:spTree>
    <p:extLst>
      <p:ext uri="{BB962C8B-B14F-4D97-AF65-F5344CB8AC3E}">
        <p14:creationId xmlns:p14="http://schemas.microsoft.com/office/powerpoint/2010/main" val="287641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8C3D6-CFD0-5C9D-D809-1E1A9CD2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7A801-62E9-8B37-23C0-04A2CD11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E75820-AF30-2F75-45F3-0B17E6E4CE43}"/>
              </a:ext>
            </a:extLst>
          </p:cNvPr>
          <p:cNvSpPr txBox="1">
            <a:spLocks/>
          </p:cNvSpPr>
          <p:nvPr/>
        </p:nvSpPr>
        <p:spPr>
          <a:xfrm>
            <a:off x="156000" y="909000"/>
            <a:ext cx="11844000" cy="5040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MongoDB (Student)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800" dirty="0"/>
              <a:t>{</a:t>
            </a:r>
            <a:r>
              <a:rPr lang="en-US" sz="1800" dirty="0" err="1"/>
              <a:t>Rno</a:t>
            </a:r>
            <a:r>
              <a:rPr lang="en-US" sz="1800" dirty="0"/>
              <a:t>: 101, FName: Raj, </a:t>
            </a:r>
            <a:r>
              <a:rPr lang="en-US" sz="1800" dirty="0" err="1"/>
              <a:t>Lname</a:t>
            </a:r>
            <a:r>
              <a:rPr lang="en-US" sz="1800" dirty="0"/>
              <a:t>: Patel}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102, FName: Rajesh, </a:t>
            </a:r>
            <a:r>
              <a:rPr lang="en-US" sz="1800" dirty="0" err="1"/>
              <a:t>Lname</a:t>
            </a:r>
            <a:r>
              <a:rPr lang="en-US" sz="1800" dirty="0"/>
              <a:t>: Shah}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103, FName: Meet, </a:t>
            </a:r>
            <a:r>
              <a:rPr lang="en-US" sz="1800" dirty="0" err="1"/>
              <a:t>Lname</a:t>
            </a:r>
            <a:r>
              <a:rPr lang="en-US" sz="1800" dirty="0"/>
              <a:t>: Dave} 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104, FName: Mayur, </a:t>
            </a:r>
            <a:r>
              <a:rPr lang="en-US" sz="1800" dirty="0" err="1"/>
              <a:t>Lname</a:t>
            </a:r>
            <a:r>
              <a:rPr lang="en-US" sz="1800" dirty="0"/>
              <a:t>: Solanki}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105, FName: Hansraj, </a:t>
            </a:r>
            <a:r>
              <a:rPr lang="en-US" sz="1800" dirty="0" err="1"/>
              <a:t>Lname</a:t>
            </a:r>
            <a:r>
              <a:rPr lang="en-US" sz="1800" dirty="0"/>
              <a:t>: Dave}</a:t>
            </a:r>
          </a:p>
          <a:p>
            <a:endParaRPr lang="en-US" dirty="0"/>
          </a:p>
          <a:p>
            <a:r>
              <a:rPr lang="en-US" dirty="0"/>
              <a:t>Display the detail student whose </a:t>
            </a:r>
            <a:r>
              <a:rPr lang="en-US" dirty="0" err="1"/>
              <a:t>Fname</a:t>
            </a:r>
            <a:r>
              <a:rPr lang="en-US" dirty="0"/>
              <a:t> contains ‘Raj’. (</a:t>
            </a:r>
            <a:r>
              <a:rPr lang="en-US" dirty="0">
                <a:solidFill>
                  <a:schemeClr val="accent6"/>
                </a:solidFill>
              </a:rPr>
              <a:t>Case insensitive</a:t>
            </a:r>
            <a:r>
              <a:rPr lang="en-US" dirty="0"/>
              <a:t>)</a:t>
            </a:r>
          </a:p>
          <a:p>
            <a:pPr marL="536575" indent="0">
              <a:buNone/>
            </a:pPr>
            <a:r>
              <a:rPr lang="en-US" dirty="0" err="1"/>
              <a:t>db.student.find</a:t>
            </a:r>
            <a:r>
              <a:rPr lang="en-US" dirty="0"/>
              <a:t>({FName:{$regex: "Raj“, </a:t>
            </a:r>
            <a:r>
              <a:rPr lang="en-US" dirty="0">
                <a:solidFill>
                  <a:schemeClr val="accent6"/>
                </a:solidFill>
              </a:rPr>
              <a:t>$options:"</a:t>
            </a:r>
            <a:r>
              <a:rPr lang="en-US" dirty="0" err="1">
                <a:solidFill>
                  <a:schemeClr val="accent6"/>
                </a:solidFill>
              </a:rPr>
              <a:t>i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}})</a:t>
            </a:r>
          </a:p>
          <a:p>
            <a:pPr marL="536575" indent="0">
              <a:buNone/>
            </a:pPr>
            <a:r>
              <a:rPr lang="en-US" b="1" dirty="0"/>
              <a:t>OR</a:t>
            </a:r>
          </a:p>
          <a:p>
            <a:pPr marL="536575" indent="0">
              <a:buNone/>
            </a:pPr>
            <a:r>
              <a:rPr lang="en-US" dirty="0" err="1"/>
              <a:t>db.student.find</a:t>
            </a:r>
            <a:r>
              <a:rPr lang="en-US" dirty="0"/>
              <a:t>({FName:/Raj/</a:t>
            </a:r>
            <a:r>
              <a:rPr lang="en-US" dirty="0" err="1">
                <a:solidFill>
                  <a:schemeClr val="accent6"/>
                </a:solidFill>
              </a:rPr>
              <a:t>i</a:t>
            </a:r>
            <a:r>
              <a:rPr lang="en-US" dirty="0"/>
              <a:t>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6043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$regex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This operator is used to search for the given string in the specified collection.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In </a:t>
            </a:r>
            <a:r>
              <a:rPr lang="en-US" dirty="0" err="1"/>
              <a:t>MongoDB</a:t>
            </a:r>
            <a:r>
              <a:rPr lang="en-US" dirty="0"/>
              <a:t>, the following &lt;options&gt; are available for use with regular expression:</a:t>
            </a:r>
          </a:p>
          <a:p>
            <a:pPr lvl="2"/>
            <a:r>
              <a:rPr lang="en-US" dirty="0">
                <a:solidFill>
                  <a:schemeClr val="accent6"/>
                </a:solidFill>
              </a:rPr>
              <a:t>i: To match both lower case and upper case pattern in the string.</a:t>
            </a:r>
          </a:p>
          <a:p>
            <a:pPr lvl="2"/>
            <a:r>
              <a:rPr lang="en-US" dirty="0"/>
              <a:t>m: To include ^ and $ in the pattern in the match i.e. to specifically search for ^ and $ inside the string. Without this option, these anchors match at the beginning or end of the string.</a:t>
            </a:r>
          </a:p>
          <a:p>
            <a:pPr lvl="2"/>
            <a:r>
              <a:rPr lang="en-US" dirty="0"/>
              <a:t>x: To ignore all white space characters in the $regex pattern.</a:t>
            </a:r>
          </a:p>
          <a:p>
            <a:pPr lvl="2"/>
            <a:r>
              <a:rPr lang="en-US" dirty="0"/>
              <a:t>s: To allow the dot character “.” to match all characters including newline characters.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654892"/>
            <a:ext cx="758952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db.collectionName.find</a:t>
            </a:r>
            <a:r>
              <a:rPr lang="en-US" dirty="0">
                <a:solidFill>
                  <a:schemeClr val="tx1"/>
                </a:solidFill>
              </a:rPr>
              <a:t>({</a:t>
            </a:r>
            <a:r>
              <a:rPr lang="en-US" dirty="0" err="1">
                <a:solidFill>
                  <a:schemeClr val="tx1"/>
                </a:solidFill>
              </a:rPr>
              <a:t>field_name</a:t>
            </a:r>
            <a:r>
              <a:rPr lang="en-US" dirty="0">
                <a:solidFill>
                  <a:schemeClr val="tx1"/>
                </a:solidFill>
              </a:rPr>
              <a:t>: { $regex: /pattern/, $options: '&lt;options&gt;' } 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289132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37025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663522" cy="5590565"/>
          </a:xfrm>
        </p:spPr>
        <p:txBody>
          <a:bodyPr/>
          <a:lstStyle/>
          <a:p>
            <a:r>
              <a:rPr lang="en-US" dirty="0"/>
              <a:t>Displaying details of employee who are having the word developer in their position field.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employee who are a software engineer with case insensitive by using </a:t>
            </a:r>
            <a:r>
              <a:rPr lang="en-US" dirty="0" err="1"/>
              <a:t>i</a:t>
            </a:r>
            <a:r>
              <a:rPr lang="en-US" dirty="0"/>
              <a:t> &lt;options&gt;.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the employee whose name starts with ‘B’.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950815" y="1433148"/>
            <a:ext cx="398098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	name: "Tony",</a:t>
            </a:r>
          </a:p>
          <a:p>
            <a:r>
              <a:rPr lang="en-US" dirty="0"/>
              <a:t>	position: "Backend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"Bruce",</a:t>
            </a:r>
          </a:p>
          <a:p>
            <a:r>
              <a:rPr lang="en-US" dirty="0"/>
              <a:t>	position: "frontend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"Nick",</a:t>
            </a:r>
          </a:p>
          <a:p>
            <a:r>
              <a:rPr lang="en-US" dirty="0"/>
              <a:t>	position: "HR Manager“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“Jimmy",</a:t>
            </a:r>
          </a:p>
          <a:p>
            <a:r>
              <a:rPr lang="en-US" dirty="0"/>
              <a:t>	position: “backend developer"</a:t>
            </a:r>
          </a:p>
          <a:p>
            <a:r>
              <a:rPr lang="en-US" dirty="0"/>
              <a:t>}  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967054"/>
            <a:ext cx="4754880" cy="54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({position : {$regex : "developer"}})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60129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950813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641425"/>
            <a:ext cx="594360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({position:{$regex:"software",$options:"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"}})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27566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5382357"/>
            <a:ext cx="475488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({name:{$regex:"^B"}})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501659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74893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663522" cy="5590565"/>
          </a:xfrm>
        </p:spPr>
        <p:txBody>
          <a:bodyPr/>
          <a:lstStyle/>
          <a:p>
            <a:r>
              <a:rPr lang="en-US" dirty="0"/>
              <a:t>Displaying details of the employee whose name ends with ‘e’.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the employee whose name starts with ‘B’ and ends with ‘e’.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the employee whose name have ‘r’ is second character.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950815" y="1433148"/>
            <a:ext cx="398098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	name: "Tony",</a:t>
            </a:r>
          </a:p>
          <a:p>
            <a:r>
              <a:rPr lang="en-US" dirty="0"/>
              <a:t>	position: "Backend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"Bruce",</a:t>
            </a:r>
          </a:p>
          <a:p>
            <a:r>
              <a:rPr lang="en-US" dirty="0"/>
              <a:t>	position: "frontend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"Nick",</a:t>
            </a:r>
          </a:p>
          <a:p>
            <a:r>
              <a:rPr lang="en-US" dirty="0"/>
              <a:t>	position: "HR Manager“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“Jimmy",</a:t>
            </a:r>
          </a:p>
          <a:p>
            <a:r>
              <a:rPr lang="en-US" dirty="0"/>
              <a:t>	position: “backend developer"</a:t>
            </a:r>
          </a:p>
          <a:p>
            <a:r>
              <a:rPr lang="en-US" dirty="0"/>
              <a:t>}  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967054"/>
            <a:ext cx="4754880" cy="54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({name : {$regex : “e$"}})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60129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950813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641425"/>
            <a:ext cx="713232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({$and:[    {name:{$regex: "^B" }}, {name:{$regex: “e$"}}]})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27566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5382357"/>
            <a:ext cx="475488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 name: { $regex: "^.r" } })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501659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89175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663522" cy="5590565"/>
          </a:xfrm>
        </p:spPr>
        <p:txBody>
          <a:bodyPr/>
          <a:lstStyle/>
          <a:p>
            <a:r>
              <a:rPr lang="en-US" dirty="0"/>
              <a:t>Displaying details of the employee whose name consist of c character at any place.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the employee whose name does not starts with B.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950815" y="1433148"/>
            <a:ext cx="398098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	name: "Tony",</a:t>
            </a:r>
          </a:p>
          <a:p>
            <a:r>
              <a:rPr lang="en-US" dirty="0"/>
              <a:t>	position: "Backend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"Bruce",</a:t>
            </a:r>
          </a:p>
          <a:p>
            <a:r>
              <a:rPr lang="en-US" dirty="0"/>
              <a:t>	position: "frontend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"Nick",</a:t>
            </a:r>
          </a:p>
          <a:p>
            <a:r>
              <a:rPr lang="en-US" dirty="0"/>
              <a:t>	position: "HR Manager“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“Jimmy",</a:t>
            </a:r>
          </a:p>
          <a:p>
            <a:r>
              <a:rPr lang="en-US" dirty="0"/>
              <a:t>	position: “backend developer"</a:t>
            </a:r>
          </a:p>
          <a:p>
            <a:r>
              <a:rPr lang="en-US" dirty="0"/>
              <a:t>}  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967054"/>
            <a:ext cx="4754880" cy="54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({name : {$regex : “c"}})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60129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950813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641425"/>
            <a:ext cx="713232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({name: {$not: {$regex:"^B"}}})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27566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5753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B69E-DE1F-9C56-891F-ADC25C90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5871-2F3F-52A5-8AB9-7A6C50E9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en-US" sz="3200" dirty="0"/>
              <a:t>(Write query in MongoDB)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A98138-2431-569F-686D-B48BEC54E721}"/>
              </a:ext>
            </a:extLst>
          </p:cNvPr>
          <p:cNvSpPr/>
          <p:nvPr/>
        </p:nvSpPr>
        <p:spPr>
          <a:xfrm>
            <a:off x="9905998" y="7823"/>
            <a:ext cx="2078183" cy="703378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chemeClr val="accent6"/>
                </a:solidFill>
              </a:rPr>
              <a:t>MongoDB</a:t>
            </a:r>
            <a:endParaRPr lang="en-IN" sz="3400" b="1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E9D8C-C9C2-E1A3-9CD9-0F2199F10810}"/>
              </a:ext>
            </a:extLst>
          </p:cNvPr>
          <p:cNvSpPr txBox="1"/>
          <p:nvPr/>
        </p:nvSpPr>
        <p:spPr>
          <a:xfrm>
            <a:off x="199720" y="141699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Find all products with name starting with "A“ from product collection.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05303DE6-EDB9-C5CC-B455-7AC50D276530}"/>
              </a:ext>
            </a:extLst>
          </p:cNvPr>
          <p:cNvGraphicFramePr>
            <a:graphicFrameLocks/>
          </p:cNvGraphicFramePr>
          <p:nvPr/>
        </p:nvGraphicFramePr>
        <p:xfrm>
          <a:off x="199721" y="952177"/>
          <a:ext cx="129600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0A8372-B856-1CDE-DD73-DDA05DDAF131}"/>
              </a:ext>
            </a:extLst>
          </p:cNvPr>
          <p:cNvSpPr txBox="1"/>
          <p:nvPr/>
        </p:nvSpPr>
        <p:spPr>
          <a:xfrm>
            <a:off x="199720" y="182472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 /^A/}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2A00A-0309-828B-59C3-9DF5E746B2C1}"/>
              </a:ext>
            </a:extLst>
          </p:cNvPr>
          <p:cNvSpPr txBox="1"/>
          <p:nvPr/>
        </p:nvSpPr>
        <p:spPr>
          <a:xfrm>
            <a:off x="199720" y="234409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2"/>
            </a:pPr>
            <a:r>
              <a:rPr lang="en-US" sz="2000" dirty="0"/>
              <a:t>Find all products containing "Galaxy" in their name from product collection.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724D8-163B-4FD1-7A75-7AD27000D4DC}"/>
              </a:ext>
            </a:extLst>
          </p:cNvPr>
          <p:cNvSpPr txBox="1"/>
          <p:nvPr/>
        </p:nvSpPr>
        <p:spPr>
          <a:xfrm>
            <a:off x="199720" y="275182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 /Galaxy/}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C4B7A8-334E-F33F-043C-D679887EF38D}"/>
              </a:ext>
            </a:extLst>
          </p:cNvPr>
          <p:cNvSpPr txBox="1"/>
          <p:nvPr/>
        </p:nvSpPr>
        <p:spPr>
          <a:xfrm>
            <a:off x="199720" y="32983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3"/>
            </a:pPr>
            <a:r>
              <a:rPr lang="en-US" sz="2000" dirty="0"/>
              <a:t>Find all products whose name contain "Mac" (case-insensitive).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DEFFA-EEDE-AA9E-D23B-E1530CDA5B45}"/>
              </a:ext>
            </a:extLst>
          </p:cNvPr>
          <p:cNvSpPr txBox="1"/>
          <p:nvPr/>
        </p:nvSpPr>
        <p:spPr>
          <a:xfrm>
            <a:off x="199720" y="370606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 /Mac/</a:t>
            </a:r>
            <a:r>
              <a:rPr lang="en-US" sz="2000" dirty="0" err="1"/>
              <a:t>i</a:t>
            </a:r>
            <a:r>
              <a:rPr lang="en-US" sz="2000" dirty="0"/>
              <a:t>}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67A0C-E8C9-D9A6-6278-086EBB2972C2}"/>
              </a:ext>
            </a:extLst>
          </p:cNvPr>
          <p:cNvSpPr txBox="1"/>
          <p:nvPr/>
        </p:nvSpPr>
        <p:spPr>
          <a:xfrm>
            <a:off x="199720" y="42508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4"/>
            </a:pPr>
            <a:r>
              <a:rPr lang="en-US" sz="2000" dirty="0"/>
              <a:t>Find products with name having "Pro" at the end.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04EC7-8345-69C2-32ED-4BDBCE66D134}"/>
              </a:ext>
            </a:extLst>
          </p:cNvPr>
          <p:cNvSpPr txBox="1"/>
          <p:nvPr/>
        </p:nvSpPr>
        <p:spPr>
          <a:xfrm>
            <a:off x="199720" y="4672419"/>
            <a:ext cx="9360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 /Pro$/</a:t>
            </a:r>
            <a:r>
              <a:rPr lang="en-US" sz="2000" dirty="0" err="1"/>
              <a:t>i</a:t>
            </a:r>
            <a:r>
              <a:rPr lang="en-US" sz="2000" dirty="0"/>
              <a:t>}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38FBD-38F1-E435-73D8-F4B0FB55C348}"/>
              </a:ext>
            </a:extLst>
          </p:cNvPr>
          <p:cNvSpPr txBox="1"/>
          <p:nvPr/>
        </p:nvSpPr>
        <p:spPr>
          <a:xfrm>
            <a:off x="199720" y="52033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5"/>
            </a:pPr>
            <a:r>
              <a:rPr lang="en-US" sz="2000" dirty="0"/>
              <a:t>Find all products with price ending in 99.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EB5D0-9BE2-1868-6AEB-72D8932C670F}"/>
              </a:ext>
            </a:extLst>
          </p:cNvPr>
          <p:cNvSpPr txBox="1"/>
          <p:nvPr/>
        </p:nvSpPr>
        <p:spPr>
          <a:xfrm>
            <a:off x="199720" y="5611064"/>
            <a:ext cx="9360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{price:/99$/} )</a:t>
            </a:r>
          </a:p>
        </p:txBody>
      </p:sp>
    </p:spTree>
    <p:extLst>
      <p:ext uri="{BB962C8B-B14F-4D97-AF65-F5344CB8AC3E}">
        <p14:creationId xmlns:p14="http://schemas.microsoft.com/office/powerpoint/2010/main" val="194167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B9BA-85AA-7E83-C7C7-2D1B10CA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2C89-FEF7-A1BE-3F42-739B1601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en-US" sz="3200" dirty="0"/>
              <a:t>(Write query in MongoDB)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4F49934-443C-3C3D-5EEB-924034805303}"/>
              </a:ext>
            </a:extLst>
          </p:cNvPr>
          <p:cNvSpPr/>
          <p:nvPr/>
        </p:nvSpPr>
        <p:spPr>
          <a:xfrm>
            <a:off x="9905998" y="7823"/>
            <a:ext cx="2078183" cy="703378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chemeClr val="accent6"/>
                </a:solidFill>
              </a:rPr>
              <a:t>MongoDB</a:t>
            </a:r>
            <a:endParaRPr lang="en-IN" sz="3400" b="1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5F4A5-C80E-0941-1FAB-5907F98E90E2}"/>
              </a:ext>
            </a:extLst>
          </p:cNvPr>
          <p:cNvSpPr txBox="1"/>
          <p:nvPr/>
        </p:nvSpPr>
        <p:spPr>
          <a:xfrm>
            <a:off x="199720" y="141699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6"/>
            </a:pPr>
            <a:r>
              <a:rPr lang="en-US" sz="2000" dirty="0"/>
              <a:t>Find products where the name contains "1000".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471F1F3A-E4E6-2FC7-C6D5-F2A0F141282D}"/>
              </a:ext>
            </a:extLst>
          </p:cNvPr>
          <p:cNvGraphicFramePr>
            <a:graphicFrameLocks/>
          </p:cNvGraphicFramePr>
          <p:nvPr/>
        </p:nvGraphicFramePr>
        <p:xfrm>
          <a:off x="199721" y="952177"/>
          <a:ext cx="129600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EF1603-CEDC-A2BF-D33A-654B6F97DC0A}"/>
              </a:ext>
            </a:extLst>
          </p:cNvPr>
          <p:cNvSpPr txBox="1"/>
          <p:nvPr/>
        </p:nvSpPr>
        <p:spPr>
          <a:xfrm>
            <a:off x="199720" y="182472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{name:/1000/}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62FBB-29D9-8346-6549-A5B903ECFDE7}"/>
              </a:ext>
            </a:extLst>
          </p:cNvPr>
          <p:cNvSpPr txBox="1"/>
          <p:nvPr/>
        </p:nvSpPr>
        <p:spPr>
          <a:xfrm>
            <a:off x="199720" y="234409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7"/>
            </a:pPr>
            <a:r>
              <a:rPr lang="en-US" sz="2000" dirty="0"/>
              <a:t>Find products where the category is exactly "Laptops".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A8897-036C-86E4-2537-5CEC8B185263}"/>
              </a:ext>
            </a:extLst>
          </p:cNvPr>
          <p:cNvSpPr txBox="1"/>
          <p:nvPr/>
        </p:nvSpPr>
        <p:spPr>
          <a:xfrm>
            <a:off x="199720" y="275182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{category:/^Laptops$/}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F76F8-FD81-F5E6-4D29-2FAF14227B2F}"/>
              </a:ext>
            </a:extLst>
          </p:cNvPr>
          <p:cNvSpPr txBox="1"/>
          <p:nvPr/>
        </p:nvSpPr>
        <p:spPr>
          <a:xfrm>
            <a:off x="199720" y="32983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8"/>
            </a:pPr>
            <a:r>
              <a:rPr lang="en-US" sz="2000" dirty="0"/>
              <a:t>Find all products with a name that starts with "S" and ends with "5".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F9C27-78A3-F589-75C5-AA5C9B8107CA}"/>
              </a:ext>
            </a:extLst>
          </p:cNvPr>
          <p:cNvSpPr txBox="1"/>
          <p:nvPr/>
        </p:nvSpPr>
        <p:spPr>
          <a:xfrm>
            <a:off x="199720" y="370606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{name:/^S.*5$/}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E229D-C030-6FE9-993C-535A0163628C}"/>
              </a:ext>
            </a:extLst>
          </p:cNvPr>
          <p:cNvSpPr txBox="1"/>
          <p:nvPr/>
        </p:nvSpPr>
        <p:spPr>
          <a:xfrm>
            <a:off x="199720" y="42508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9"/>
            </a:pPr>
            <a:r>
              <a:rPr lang="en-US" sz="2000" dirty="0"/>
              <a:t>Find all products where name end with a digit.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5E45E2-8C45-BFA1-BA75-0CE371173CD4}"/>
              </a:ext>
            </a:extLst>
          </p:cNvPr>
          <p:cNvSpPr txBox="1"/>
          <p:nvPr/>
        </p:nvSpPr>
        <p:spPr>
          <a:xfrm>
            <a:off x="199720" y="4672419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{name:/\d$/} ) OR </a:t>
            </a:r>
            <a:r>
              <a:rPr lang="en-US" sz="2000" dirty="0" err="1"/>
              <a:t>db.product.find</a:t>
            </a:r>
            <a:r>
              <a:rPr lang="en-US" sz="2000" dirty="0"/>
              <a:t>( {name: </a:t>
            </a:r>
            <a:r>
              <a:rPr lang="en-IN" dirty="0"/>
              <a:t>{$regex:/[0-9]$/</a:t>
            </a:r>
            <a:r>
              <a:rPr lang="en-US" sz="2000" dirty="0"/>
              <a:t>} })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259C3B-1764-0DD0-1E75-3DD0911D418C}"/>
              </a:ext>
            </a:extLst>
          </p:cNvPr>
          <p:cNvSpPr txBox="1"/>
          <p:nvPr/>
        </p:nvSpPr>
        <p:spPr>
          <a:xfrm>
            <a:off x="199720" y="52033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10"/>
            </a:pPr>
            <a:r>
              <a:rPr lang="en-US" sz="2000" dirty="0"/>
              <a:t>Find products whose name have a space in them.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D69ED-C10E-71EF-94C4-066AD55CFA16}"/>
              </a:ext>
            </a:extLst>
          </p:cNvPr>
          <p:cNvSpPr txBox="1"/>
          <p:nvPr/>
        </p:nvSpPr>
        <p:spPr>
          <a:xfrm>
            <a:off x="199720" y="5611064"/>
            <a:ext cx="9360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{name:/\s/} )</a:t>
            </a:r>
          </a:p>
        </p:txBody>
      </p:sp>
    </p:spTree>
    <p:extLst>
      <p:ext uri="{BB962C8B-B14F-4D97-AF65-F5344CB8AC3E}">
        <p14:creationId xmlns:p14="http://schemas.microsoft.com/office/powerpoint/2010/main" val="415228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Aggregation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407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pPr algn="l"/>
            <a:r>
              <a:rPr lang="en-US" b="1" dirty="0"/>
              <a:t>Aggregation</a:t>
            </a:r>
            <a:r>
              <a:rPr lang="en-US" dirty="0"/>
              <a:t> means:</a:t>
            </a:r>
          </a:p>
          <a:p>
            <a:pPr lvl="1"/>
            <a:r>
              <a:rPr lang="en-US" dirty="0"/>
              <a:t>Taking many/more than one documents from a collection,</a:t>
            </a:r>
          </a:p>
          <a:p>
            <a:pPr lvl="1" algn="l"/>
            <a:r>
              <a:rPr lang="en-US" dirty="0"/>
              <a:t>processing them step by step,</a:t>
            </a:r>
          </a:p>
          <a:p>
            <a:pPr lvl="1" algn="l"/>
            <a:r>
              <a:rPr lang="en-US" dirty="0"/>
              <a:t>and producing a summarized or transformed result.</a:t>
            </a:r>
          </a:p>
          <a:p>
            <a:r>
              <a:rPr lang="en-US" dirty="0"/>
              <a:t>It is similar to </a:t>
            </a:r>
            <a:r>
              <a:rPr lang="en-US" b="1" dirty="0"/>
              <a:t>GROUP BY</a:t>
            </a:r>
            <a:r>
              <a:rPr lang="en-US" dirty="0"/>
              <a:t> in SQL but much more powerful.</a:t>
            </a:r>
          </a:p>
        </p:txBody>
      </p:sp>
    </p:spTree>
    <p:extLst>
      <p:ext uri="{BB962C8B-B14F-4D97-AF65-F5344CB8AC3E}">
        <p14:creationId xmlns:p14="http://schemas.microsoft.com/office/powerpoint/2010/main" val="149163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83639-D7F1-13E5-6DFF-1C757814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4241F315-2331-ECEF-B199-7429A9B36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DA7DF-C466-B1EB-A3E1-C3096613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Aggregation				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5EDBD0-A0AA-FC7C-90E6-94AAD37730AD}"/>
              </a:ext>
            </a:extLst>
          </p:cNvPr>
          <p:cNvGrpSpPr/>
          <p:nvPr/>
        </p:nvGrpSpPr>
        <p:grpSpPr>
          <a:xfrm>
            <a:off x="653216" y="891635"/>
            <a:ext cx="1800440" cy="2640329"/>
            <a:chOff x="964946" y="891638"/>
            <a:chExt cx="1800440" cy="2640329"/>
          </a:xfrm>
        </p:grpSpPr>
        <p:pic>
          <p:nvPicPr>
            <p:cNvPr id="1026" name="Picture 2" descr="Girl - Free people icons">
              <a:extLst>
                <a:ext uri="{FF2B5EF4-FFF2-40B4-BE49-F238E27FC236}">
                  <a16:creationId xmlns:a16="http://schemas.microsoft.com/office/drawing/2014/main" id="{BDF637A4-B22E-1275-F743-4C756BB3F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166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687A56-03A2-A3A2-1E0C-9F4BBEF6D412}"/>
                </a:ext>
              </a:extLst>
            </p:cNvPr>
            <p:cNvSpPr txBox="1"/>
            <p:nvPr/>
          </p:nvSpPr>
          <p:spPr>
            <a:xfrm>
              <a:off x="964946" y="2331638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Riya Patel</a:t>
              </a:r>
            </a:p>
            <a:p>
              <a:r>
                <a:rPr lang="en-US" dirty="0"/>
                <a:t>Gender: Female</a:t>
              </a:r>
            </a:p>
            <a:p>
              <a:r>
                <a:rPr lang="en-US" dirty="0"/>
                <a:t>Dept: CE</a:t>
              </a:r>
            </a:p>
            <a:p>
              <a:r>
                <a:rPr lang="en-US" dirty="0"/>
                <a:t>SPI: 8</a:t>
              </a:r>
              <a:endParaRPr lang="en-IN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B7067CC-EE7D-8BC1-5AAD-A6A092242AE7}"/>
              </a:ext>
            </a:extLst>
          </p:cNvPr>
          <p:cNvGrpSpPr/>
          <p:nvPr/>
        </p:nvGrpSpPr>
        <p:grpSpPr>
          <a:xfrm>
            <a:off x="2576905" y="891638"/>
            <a:ext cx="1800440" cy="2640328"/>
            <a:chOff x="3044210" y="891638"/>
            <a:chExt cx="1800440" cy="2640328"/>
          </a:xfrm>
        </p:grpSpPr>
        <p:pic>
          <p:nvPicPr>
            <p:cNvPr id="1028" name="Picture 4" descr="Boy - Free people icons">
              <a:extLst>
                <a:ext uri="{FF2B5EF4-FFF2-40B4-BE49-F238E27FC236}">
                  <a16:creationId xmlns:a16="http://schemas.microsoft.com/office/drawing/2014/main" id="{B57C6C4D-1003-47C5-D420-FF05F7716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4430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B18564-AE72-92B7-D66D-F248A5FB2181}"/>
                </a:ext>
              </a:extLst>
            </p:cNvPr>
            <p:cNvSpPr txBox="1"/>
            <p:nvPr/>
          </p:nvSpPr>
          <p:spPr>
            <a:xfrm>
              <a:off x="3044210" y="2331637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Jay Shah</a:t>
              </a:r>
            </a:p>
            <a:p>
              <a:r>
                <a:rPr lang="en-US" dirty="0"/>
                <a:t>Gender: Male</a:t>
              </a:r>
            </a:p>
            <a:p>
              <a:r>
                <a:rPr lang="en-US" dirty="0"/>
                <a:t>Dept: IT</a:t>
              </a:r>
            </a:p>
            <a:p>
              <a:r>
                <a:rPr lang="en-US" dirty="0"/>
                <a:t>SPI: 9</a:t>
              </a:r>
              <a:endParaRPr lang="en-IN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BEF3F7-5154-CAC6-AFB0-C9412897587D}"/>
              </a:ext>
            </a:extLst>
          </p:cNvPr>
          <p:cNvGrpSpPr/>
          <p:nvPr/>
        </p:nvGrpSpPr>
        <p:grpSpPr>
          <a:xfrm>
            <a:off x="4500594" y="891637"/>
            <a:ext cx="1800440" cy="2640327"/>
            <a:chOff x="5123474" y="891638"/>
            <a:chExt cx="1800440" cy="2640327"/>
          </a:xfrm>
        </p:grpSpPr>
        <p:pic>
          <p:nvPicPr>
            <p:cNvPr id="4" name="Picture 2" descr="Girl - Free people icons">
              <a:extLst>
                <a:ext uri="{FF2B5EF4-FFF2-40B4-BE49-F238E27FC236}">
                  <a16:creationId xmlns:a16="http://schemas.microsoft.com/office/drawing/2014/main" id="{F88FD3B9-069E-12DB-F652-03612292D4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3694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447CAD-B24A-8B65-BC45-E19D591B12CB}"/>
                </a:ext>
              </a:extLst>
            </p:cNvPr>
            <p:cNvSpPr txBox="1"/>
            <p:nvPr/>
          </p:nvSpPr>
          <p:spPr>
            <a:xfrm>
              <a:off x="5123474" y="2331636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Jiya Khan</a:t>
              </a:r>
            </a:p>
            <a:p>
              <a:r>
                <a:rPr lang="en-US" dirty="0"/>
                <a:t>Gender: Female</a:t>
              </a:r>
            </a:p>
            <a:p>
              <a:r>
                <a:rPr lang="en-US" dirty="0"/>
                <a:t>Dept: IT</a:t>
              </a:r>
            </a:p>
            <a:p>
              <a:r>
                <a:rPr lang="en-US" dirty="0"/>
                <a:t>SPI: 7</a:t>
              </a:r>
              <a:endParaRPr lang="en-IN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1476C5-818B-46E9-FF33-6BC9BFFFFD27}"/>
              </a:ext>
            </a:extLst>
          </p:cNvPr>
          <p:cNvGrpSpPr/>
          <p:nvPr/>
        </p:nvGrpSpPr>
        <p:grpSpPr>
          <a:xfrm>
            <a:off x="6424283" y="891637"/>
            <a:ext cx="1800440" cy="2640327"/>
            <a:chOff x="7202738" y="891638"/>
            <a:chExt cx="1800440" cy="2640327"/>
          </a:xfrm>
        </p:grpSpPr>
        <p:pic>
          <p:nvPicPr>
            <p:cNvPr id="5" name="Picture 4" descr="Boy - Free people icons">
              <a:extLst>
                <a:ext uri="{FF2B5EF4-FFF2-40B4-BE49-F238E27FC236}">
                  <a16:creationId xmlns:a16="http://schemas.microsoft.com/office/drawing/2014/main" id="{FC22CD49-E2C6-0F09-8342-3262437ED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2958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4A49EE-3335-8188-C371-D56AF219A9AA}"/>
                </a:ext>
              </a:extLst>
            </p:cNvPr>
            <p:cNvSpPr txBox="1"/>
            <p:nvPr/>
          </p:nvSpPr>
          <p:spPr>
            <a:xfrm>
              <a:off x="7202738" y="2331636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Om Patel</a:t>
              </a:r>
            </a:p>
            <a:p>
              <a:r>
                <a:rPr lang="en-US" dirty="0"/>
                <a:t>Gender: Male</a:t>
              </a:r>
            </a:p>
            <a:p>
              <a:r>
                <a:rPr lang="en-US" dirty="0"/>
                <a:t>Dept: CE</a:t>
              </a:r>
            </a:p>
            <a:p>
              <a:r>
                <a:rPr lang="en-US" dirty="0"/>
                <a:t>SPI: 9</a:t>
              </a:r>
              <a:endParaRPr lang="en-IN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2B80A3-566D-9878-852E-1438070D155E}"/>
              </a:ext>
            </a:extLst>
          </p:cNvPr>
          <p:cNvGrpSpPr/>
          <p:nvPr/>
        </p:nvGrpSpPr>
        <p:grpSpPr>
          <a:xfrm>
            <a:off x="4972914" y="3754934"/>
            <a:ext cx="1800440" cy="2640327"/>
            <a:chOff x="9282002" y="891638"/>
            <a:chExt cx="1800440" cy="2640327"/>
          </a:xfrm>
        </p:grpSpPr>
        <p:pic>
          <p:nvPicPr>
            <p:cNvPr id="6" name="Picture 2" descr="Girl - Free people icons">
              <a:extLst>
                <a:ext uri="{FF2B5EF4-FFF2-40B4-BE49-F238E27FC236}">
                  <a16:creationId xmlns:a16="http://schemas.microsoft.com/office/drawing/2014/main" id="{0887B69D-BBEB-493D-7053-DE156F93F3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2221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E696FC-6581-FA17-E861-ECE6EB6534B7}"/>
                </a:ext>
              </a:extLst>
            </p:cNvPr>
            <p:cNvSpPr txBox="1"/>
            <p:nvPr/>
          </p:nvSpPr>
          <p:spPr>
            <a:xfrm>
              <a:off x="9282002" y="2331636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Nita Patel</a:t>
              </a:r>
            </a:p>
            <a:p>
              <a:r>
                <a:rPr lang="en-US" dirty="0"/>
                <a:t>Gender: Female</a:t>
              </a:r>
            </a:p>
            <a:p>
              <a:r>
                <a:rPr lang="en-US" dirty="0"/>
                <a:t>Dept: CE</a:t>
              </a:r>
            </a:p>
            <a:p>
              <a:r>
                <a:rPr lang="en-US" dirty="0"/>
                <a:t>SPI: 10</a:t>
              </a:r>
              <a:endParaRPr lang="en-IN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20C6527-5536-738D-2E03-18CD2145C530}"/>
              </a:ext>
            </a:extLst>
          </p:cNvPr>
          <p:cNvSpPr txBox="1"/>
          <p:nvPr/>
        </p:nvSpPr>
        <p:spPr>
          <a:xfrm>
            <a:off x="314265" y="3684210"/>
            <a:ext cx="108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Female</a:t>
            </a:r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A02F2F-1040-CD66-F508-705F62832326}"/>
              </a:ext>
            </a:extLst>
          </p:cNvPr>
          <p:cNvSpPr txBox="1"/>
          <p:nvPr/>
        </p:nvSpPr>
        <p:spPr>
          <a:xfrm>
            <a:off x="10695976" y="3684208"/>
            <a:ext cx="108000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Male</a:t>
            </a:r>
            <a:endParaRPr lang="en-IN" sz="2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5BCB7E-A646-66B1-9803-E53A9DC35239}"/>
              </a:ext>
            </a:extLst>
          </p:cNvPr>
          <p:cNvSpPr/>
          <p:nvPr/>
        </p:nvSpPr>
        <p:spPr>
          <a:xfrm>
            <a:off x="2502036" y="0"/>
            <a:ext cx="5076400" cy="711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Group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sz="36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by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sz="36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Gender</a:t>
            </a:r>
            <a:endParaRPr lang="en-IN" sz="3600" b="1" dirty="0">
              <a:solidFill>
                <a:schemeClr val="accent6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B9A72-7163-B263-A3B6-6473D0C050F5}"/>
              </a:ext>
            </a:extLst>
          </p:cNvPr>
          <p:cNvCxnSpPr>
            <a:cxnSpLocks/>
          </p:cNvCxnSpPr>
          <p:nvPr/>
        </p:nvCxnSpPr>
        <p:spPr>
          <a:xfrm>
            <a:off x="6960858" y="3684208"/>
            <a:ext cx="0" cy="2844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088C4FB-51CB-5D83-470C-F928FE05ED77}"/>
              </a:ext>
            </a:extLst>
          </p:cNvPr>
          <p:cNvCxnSpPr>
            <a:cxnSpLocks/>
            <a:stCxn id="20" idx="1"/>
            <a:endCxn id="20" idx="3"/>
          </p:cNvCxnSpPr>
          <p:nvPr/>
        </p:nvCxnSpPr>
        <p:spPr>
          <a:xfrm>
            <a:off x="131180" y="3658727"/>
            <a:ext cx="119296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900B6FB-2024-128D-6C07-81B37CCB4D23}"/>
              </a:ext>
            </a:extLst>
          </p:cNvPr>
          <p:cNvGrpSpPr/>
          <p:nvPr/>
        </p:nvGrpSpPr>
        <p:grpSpPr>
          <a:xfrm>
            <a:off x="1313151" y="3754934"/>
            <a:ext cx="1800440" cy="2640329"/>
            <a:chOff x="964946" y="891638"/>
            <a:chExt cx="1800440" cy="2640329"/>
          </a:xfrm>
        </p:grpSpPr>
        <p:pic>
          <p:nvPicPr>
            <p:cNvPr id="40" name="Picture 2" descr="Girl - Free people icons">
              <a:extLst>
                <a:ext uri="{FF2B5EF4-FFF2-40B4-BE49-F238E27FC236}">
                  <a16:creationId xmlns:a16="http://schemas.microsoft.com/office/drawing/2014/main" id="{73C0D893-10C5-B762-12E0-798524D528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166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118B483-5431-F473-A324-8FBB577B7B16}"/>
                </a:ext>
              </a:extLst>
            </p:cNvPr>
            <p:cNvSpPr txBox="1"/>
            <p:nvPr/>
          </p:nvSpPr>
          <p:spPr>
            <a:xfrm>
              <a:off x="964946" y="2331638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Riya Patel</a:t>
              </a:r>
            </a:p>
            <a:p>
              <a:r>
                <a:rPr lang="en-US" dirty="0"/>
                <a:t>Gender: Female</a:t>
              </a:r>
            </a:p>
            <a:p>
              <a:r>
                <a:rPr lang="en-US" dirty="0"/>
                <a:t>Dept: CE</a:t>
              </a:r>
            </a:p>
            <a:p>
              <a:r>
                <a:rPr lang="en-US" dirty="0"/>
                <a:t>SPI: 8</a:t>
              </a:r>
              <a:endParaRPr lang="en-IN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A428733-D696-B36E-6E71-E0B71D2B2129}"/>
              </a:ext>
            </a:extLst>
          </p:cNvPr>
          <p:cNvGrpSpPr/>
          <p:nvPr/>
        </p:nvGrpSpPr>
        <p:grpSpPr>
          <a:xfrm>
            <a:off x="3143033" y="3754934"/>
            <a:ext cx="1800440" cy="2640327"/>
            <a:chOff x="5123474" y="891638"/>
            <a:chExt cx="1800440" cy="2640327"/>
          </a:xfrm>
        </p:grpSpPr>
        <p:pic>
          <p:nvPicPr>
            <p:cNvPr id="43" name="Picture 2" descr="Girl - Free people icons">
              <a:extLst>
                <a:ext uri="{FF2B5EF4-FFF2-40B4-BE49-F238E27FC236}">
                  <a16:creationId xmlns:a16="http://schemas.microsoft.com/office/drawing/2014/main" id="{D2344F3F-E123-2BCD-73BC-295D72ECA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3694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D89AB3D-EAF3-2165-F960-5BC67F06BD6A}"/>
                </a:ext>
              </a:extLst>
            </p:cNvPr>
            <p:cNvSpPr txBox="1"/>
            <p:nvPr/>
          </p:nvSpPr>
          <p:spPr>
            <a:xfrm>
              <a:off x="5123474" y="2331636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Jiya Khan</a:t>
              </a:r>
            </a:p>
            <a:p>
              <a:r>
                <a:rPr lang="en-US" dirty="0"/>
                <a:t>Gender: Female</a:t>
              </a:r>
            </a:p>
            <a:p>
              <a:r>
                <a:rPr lang="en-US" dirty="0"/>
                <a:t>Dept: IT</a:t>
              </a:r>
            </a:p>
            <a:p>
              <a:r>
                <a:rPr lang="en-US" dirty="0"/>
                <a:t>SPI: 7</a:t>
              </a:r>
              <a:endParaRPr lang="en-IN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E96FF3-70E4-C3E3-24E2-FFAC31BDA4DF}"/>
              </a:ext>
            </a:extLst>
          </p:cNvPr>
          <p:cNvGrpSpPr/>
          <p:nvPr/>
        </p:nvGrpSpPr>
        <p:grpSpPr>
          <a:xfrm>
            <a:off x="8347972" y="891637"/>
            <a:ext cx="1800440" cy="2640327"/>
            <a:chOff x="9282002" y="891638"/>
            <a:chExt cx="1800440" cy="2640327"/>
          </a:xfrm>
        </p:grpSpPr>
        <p:pic>
          <p:nvPicPr>
            <p:cNvPr id="46" name="Picture 2" descr="Girl - Free people icons">
              <a:extLst>
                <a:ext uri="{FF2B5EF4-FFF2-40B4-BE49-F238E27FC236}">
                  <a16:creationId xmlns:a16="http://schemas.microsoft.com/office/drawing/2014/main" id="{DDA9D1EC-F5EE-E715-0886-D67A2A62B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2221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3F010C1-C0F4-AC2F-2D2B-8BCECAD21AEA}"/>
                </a:ext>
              </a:extLst>
            </p:cNvPr>
            <p:cNvSpPr txBox="1"/>
            <p:nvPr/>
          </p:nvSpPr>
          <p:spPr>
            <a:xfrm>
              <a:off x="9282002" y="2331636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Nita Patel</a:t>
              </a:r>
            </a:p>
            <a:p>
              <a:r>
                <a:rPr lang="en-US" dirty="0"/>
                <a:t>Gender: Female</a:t>
              </a:r>
            </a:p>
            <a:p>
              <a:r>
                <a:rPr lang="en-US" dirty="0"/>
                <a:t>Dept: CE</a:t>
              </a:r>
            </a:p>
            <a:p>
              <a:r>
                <a:rPr lang="en-US" dirty="0"/>
                <a:t>SPI: 10</a:t>
              </a:r>
              <a:endParaRPr lang="en-IN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15C6C66-1C98-7E09-788B-01FF539B66D2}"/>
              </a:ext>
            </a:extLst>
          </p:cNvPr>
          <p:cNvGrpSpPr/>
          <p:nvPr/>
        </p:nvGrpSpPr>
        <p:grpSpPr>
          <a:xfrm>
            <a:off x="7161170" y="3841875"/>
            <a:ext cx="1800440" cy="2640328"/>
            <a:chOff x="3044210" y="891638"/>
            <a:chExt cx="1800440" cy="2640328"/>
          </a:xfrm>
        </p:grpSpPr>
        <p:pic>
          <p:nvPicPr>
            <p:cNvPr id="49" name="Picture 4" descr="Boy - Free people icons">
              <a:extLst>
                <a:ext uri="{FF2B5EF4-FFF2-40B4-BE49-F238E27FC236}">
                  <a16:creationId xmlns:a16="http://schemas.microsoft.com/office/drawing/2014/main" id="{AFBF558E-4B56-AE9B-C175-5F96B73F44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4430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18CC4FE-E9A2-2DCC-A5E2-251F81150F7C}"/>
                </a:ext>
              </a:extLst>
            </p:cNvPr>
            <p:cNvSpPr txBox="1"/>
            <p:nvPr/>
          </p:nvSpPr>
          <p:spPr>
            <a:xfrm>
              <a:off x="3044210" y="2331637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Jay Shah</a:t>
              </a:r>
            </a:p>
            <a:p>
              <a:r>
                <a:rPr lang="en-US" dirty="0"/>
                <a:t>Gender: Male</a:t>
              </a:r>
            </a:p>
            <a:p>
              <a:r>
                <a:rPr lang="en-US" dirty="0"/>
                <a:t>Dept: IT</a:t>
              </a:r>
            </a:p>
            <a:p>
              <a:r>
                <a:rPr lang="en-US" dirty="0"/>
                <a:t>SPI: 9</a:t>
              </a:r>
              <a:endParaRPr lang="en-IN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A1766C0-81A4-8E89-2FFB-92A5F698C6FF}"/>
              </a:ext>
            </a:extLst>
          </p:cNvPr>
          <p:cNvGrpSpPr/>
          <p:nvPr/>
        </p:nvGrpSpPr>
        <p:grpSpPr>
          <a:xfrm>
            <a:off x="8997980" y="3842574"/>
            <a:ext cx="1800440" cy="2640327"/>
            <a:chOff x="7202738" y="891638"/>
            <a:chExt cx="1800440" cy="2640327"/>
          </a:xfrm>
        </p:grpSpPr>
        <p:pic>
          <p:nvPicPr>
            <p:cNvPr id="52" name="Picture 51" descr="Boy - Free people icons">
              <a:extLst>
                <a:ext uri="{FF2B5EF4-FFF2-40B4-BE49-F238E27FC236}">
                  <a16:creationId xmlns:a16="http://schemas.microsoft.com/office/drawing/2014/main" id="{5192EC21-A592-98B8-2861-4AFEEC375F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2958" y="891638"/>
              <a:ext cx="144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153A931-C6C3-A3F6-2D75-41E68A61D16F}"/>
                </a:ext>
              </a:extLst>
            </p:cNvPr>
            <p:cNvSpPr txBox="1"/>
            <p:nvPr/>
          </p:nvSpPr>
          <p:spPr>
            <a:xfrm>
              <a:off x="7202738" y="2331636"/>
              <a:ext cx="1800440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Name: Om Patel</a:t>
              </a:r>
            </a:p>
            <a:p>
              <a:r>
                <a:rPr lang="en-US" dirty="0"/>
                <a:t>Gender: Male</a:t>
              </a:r>
            </a:p>
            <a:p>
              <a:r>
                <a:rPr lang="en-US" dirty="0"/>
                <a:t>Dept: CE</a:t>
              </a:r>
            </a:p>
            <a:p>
              <a:r>
                <a:rPr lang="en-US" dirty="0"/>
                <a:t>SPI: 9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48406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7BA5B-574D-2D65-E09E-127BE1F2E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B0AB5-1E1E-35A9-A9CD-1D6F2CDA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907A-B6B9-3580-E135-5CE0EABCF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b="1" dirty="0"/>
              <a:t>Why do we use Aggregation? </a:t>
            </a:r>
            <a:r>
              <a:rPr lang="en-US" dirty="0"/>
              <a:t>We use aggregation when we want to:</a:t>
            </a:r>
          </a:p>
          <a:p>
            <a:pPr lvl="1"/>
            <a:r>
              <a:rPr lang="en-US" dirty="0"/>
              <a:t>Count documents</a:t>
            </a:r>
          </a:p>
          <a:p>
            <a:pPr lvl="1"/>
            <a:r>
              <a:rPr lang="en-US" dirty="0"/>
              <a:t>Group data</a:t>
            </a:r>
          </a:p>
          <a:p>
            <a:pPr lvl="1"/>
            <a:r>
              <a:rPr lang="en-US" dirty="0"/>
              <a:t>Calculate totals, averages, min, max</a:t>
            </a:r>
          </a:p>
          <a:p>
            <a:pPr lvl="1"/>
            <a:r>
              <a:rPr lang="en-US" dirty="0"/>
              <a:t>Filter records</a:t>
            </a:r>
          </a:p>
          <a:p>
            <a:r>
              <a:rPr lang="en-US" dirty="0"/>
              <a:t>Example questions aggregation can answer:</a:t>
            </a:r>
          </a:p>
          <a:p>
            <a:pPr lvl="1"/>
            <a:r>
              <a:rPr lang="en-US" dirty="0"/>
              <a:t>How many employees are in each department?</a:t>
            </a:r>
          </a:p>
          <a:p>
            <a:pPr lvl="1"/>
            <a:r>
              <a:rPr lang="en-US" dirty="0"/>
              <a:t>What is the total salary of each department?</a:t>
            </a:r>
          </a:p>
          <a:p>
            <a:pPr lvl="1"/>
            <a:r>
              <a:rPr lang="en-US" dirty="0"/>
              <a:t>What is the average marks of each class?</a:t>
            </a:r>
          </a:p>
          <a:p>
            <a:pPr lvl="1"/>
            <a:r>
              <a:rPr lang="en-US" dirty="0"/>
              <a:t>Who are the top 5 highest-paid employees?</a:t>
            </a:r>
          </a:p>
        </p:txBody>
      </p:sp>
    </p:spTree>
    <p:extLst>
      <p:ext uri="{BB962C8B-B14F-4D97-AF65-F5344CB8AC3E}">
        <p14:creationId xmlns:p14="http://schemas.microsoft.com/office/powerpoint/2010/main" val="192985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 by in SQL vs Aggregate in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353372" y="4463416"/>
            <a:ext cx="5040000" cy="1872000"/>
          </a:xfrm>
          <a:prstGeom prst="roundRect">
            <a:avLst>
              <a:gd name="adj" fmla="val 15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SELECT Dept, COUNT(Name)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FROM Student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WHERE Dept IN (‘CE’, ‘IT’)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GROUP BY Dept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HAVING COUNT(Name)&gt;1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ORDER BY Dept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353372" y="3599416"/>
            <a:ext cx="5040000" cy="864000"/>
          </a:xfrm>
          <a:prstGeom prst="roundRect">
            <a:avLst>
              <a:gd name="adj" fmla="val 3281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Display the department-wise count of students in the CE and IT departments, where the count is greater than one, and sort the results by department.</a:t>
            </a: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FDE39ED3-D7F5-A87D-28A4-E4EB9450F8A5}"/>
              </a:ext>
            </a:extLst>
          </p:cNvPr>
          <p:cNvSpPr/>
          <p:nvPr/>
        </p:nvSpPr>
        <p:spPr>
          <a:xfrm>
            <a:off x="7880509" y="4259887"/>
            <a:ext cx="4104000" cy="1746833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[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        { $match : { … } },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        { $group : { … } },</a:t>
            </a:r>
          </a:p>
          <a:p>
            <a:pPr marL="1816100" lvl="3"/>
            <a:r>
              <a:rPr lang="en-US" dirty="0">
                <a:solidFill>
                  <a:schemeClr val="tx1"/>
                </a:solidFill>
              </a:rPr>
              <a:t>{ $match : { … } },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        { $sort : { … } }</a:t>
            </a:r>
          </a:p>
          <a:p>
            <a:r>
              <a:rPr lang="en-US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9CB94D69-8867-457F-F8E5-39EB62E4DBA6}"/>
              </a:ext>
            </a:extLst>
          </p:cNvPr>
          <p:cNvSpPr/>
          <p:nvPr/>
        </p:nvSpPr>
        <p:spPr>
          <a:xfrm>
            <a:off x="7880509" y="3894128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pipeline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171D28-314C-5B3A-8456-9075BDDC5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8257"/>
              </p:ext>
            </p:extLst>
          </p:nvPr>
        </p:nvGraphicFramePr>
        <p:xfrm>
          <a:off x="353372" y="1171177"/>
          <a:ext cx="387425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150">
                  <a:extLst>
                    <a:ext uri="{9D8B030D-6E8A-4147-A177-3AD203B41FA5}">
                      <a16:colId xmlns:a16="http://schemas.microsoft.com/office/drawing/2014/main" val="3455522372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3468181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51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19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613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267107"/>
                  </a:ext>
                </a:extLst>
              </a:tr>
            </a:tbl>
          </a:graphicData>
        </a:graphic>
      </p:graphicFrame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45628593-E3CA-4E92-C95F-7609CB012AA9}"/>
              </a:ext>
            </a:extLst>
          </p:cNvPr>
          <p:cNvSpPr/>
          <p:nvPr/>
        </p:nvSpPr>
        <p:spPr>
          <a:xfrm>
            <a:off x="353372" y="80541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EB71DA-828C-8720-C686-EE40C3DB62EA}"/>
              </a:ext>
            </a:extLst>
          </p:cNvPr>
          <p:cNvSpPr/>
          <p:nvPr/>
        </p:nvSpPr>
        <p:spPr>
          <a:xfrm>
            <a:off x="353372" y="5129725"/>
            <a:ext cx="2446978" cy="252000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70560A-5C90-B038-74EA-6EB689AB05FD}"/>
              </a:ext>
            </a:extLst>
          </p:cNvPr>
          <p:cNvSpPr/>
          <p:nvPr/>
        </p:nvSpPr>
        <p:spPr>
          <a:xfrm>
            <a:off x="353372" y="5439306"/>
            <a:ext cx="2446978" cy="252000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E89594-B66F-A9A2-77B9-CBF9B16291D1}"/>
              </a:ext>
            </a:extLst>
          </p:cNvPr>
          <p:cNvSpPr/>
          <p:nvPr/>
        </p:nvSpPr>
        <p:spPr>
          <a:xfrm>
            <a:off x="353372" y="5748887"/>
            <a:ext cx="2446978" cy="252000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05C0D3E-F61E-50EA-7F80-718D284D0AD4}"/>
              </a:ext>
            </a:extLst>
          </p:cNvPr>
          <p:cNvSpPr/>
          <p:nvPr/>
        </p:nvSpPr>
        <p:spPr>
          <a:xfrm>
            <a:off x="353372" y="6058468"/>
            <a:ext cx="2446978" cy="252000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5C40B8-BEF6-D574-F2AD-27FA1A0816E0}"/>
              </a:ext>
            </a:extLst>
          </p:cNvPr>
          <p:cNvSpPr/>
          <p:nvPr/>
        </p:nvSpPr>
        <p:spPr>
          <a:xfrm>
            <a:off x="2895276" y="5142392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AB0C48-416B-1024-0555-6D14A2018525}"/>
              </a:ext>
            </a:extLst>
          </p:cNvPr>
          <p:cNvSpPr/>
          <p:nvPr/>
        </p:nvSpPr>
        <p:spPr>
          <a:xfrm>
            <a:off x="2895276" y="5442372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BY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647B4A-C888-88FC-C6A3-61A5593C081E}"/>
              </a:ext>
            </a:extLst>
          </p:cNvPr>
          <p:cNvSpPr/>
          <p:nvPr/>
        </p:nvSpPr>
        <p:spPr>
          <a:xfrm>
            <a:off x="2895276" y="5754721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HAVING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EEFB18-4C25-4F7C-5A79-4F494BE5226B}"/>
              </a:ext>
            </a:extLst>
          </p:cNvPr>
          <p:cNvSpPr/>
          <p:nvPr/>
        </p:nvSpPr>
        <p:spPr>
          <a:xfrm>
            <a:off x="2895276" y="6058468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ORDER BY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B8DED8-BB32-1D17-816D-E6464DEDDF2B}"/>
              </a:ext>
            </a:extLst>
          </p:cNvPr>
          <p:cNvSpPr/>
          <p:nvPr/>
        </p:nvSpPr>
        <p:spPr>
          <a:xfrm>
            <a:off x="4146446" y="5132345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CONDITION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59C696-ED49-1011-F422-4BB62AE0A74F}"/>
              </a:ext>
            </a:extLst>
          </p:cNvPr>
          <p:cNvSpPr/>
          <p:nvPr/>
        </p:nvSpPr>
        <p:spPr>
          <a:xfrm>
            <a:off x="4146446" y="5432325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GROUP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A8CB5D-6D7D-0665-40D7-437416A7F82C}"/>
              </a:ext>
            </a:extLst>
          </p:cNvPr>
          <p:cNvSpPr/>
          <p:nvPr/>
        </p:nvSpPr>
        <p:spPr>
          <a:xfrm>
            <a:off x="4146446" y="5744674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CONDITION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FCA75A-46A0-CAEE-4CF2-88A0DFD06286}"/>
              </a:ext>
            </a:extLst>
          </p:cNvPr>
          <p:cNvSpPr/>
          <p:nvPr/>
        </p:nvSpPr>
        <p:spPr>
          <a:xfrm>
            <a:off x="4146446" y="6048421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SORT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2C140C37-13C8-026C-2A0D-CE62C530F39C}"/>
              </a:ext>
            </a:extLst>
          </p:cNvPr>
          <p:cNvSpPr/>
          <p:nvPr/>
        </p:nvSpPr>
        <p:spPr>
          <a:xfrm>
            <a:off x="5298446" y="1582411"/>
            <a:ext cx="457200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db.collectionname.aggregate</a:t>
            </a:r>
            <a:r>
              <a:rPr lang="en-US" dirty="0">
                <a:solidFill>
                  <a:schemeClr val="tx1"/>
                </a:solidFill>
              </a:rPr>
              <a:t>(pipeline, options)</a:t>
            </a:r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8C9AE814-4ED5-4B72-CC8B-0C73B952F70E}"/>
              </a:ext>
            </a:extLst>
          </p:cNvPr>
          <p:cNvSpPr/>
          <p:nvPr/>
        </p:nvSpPr>
        <p:spPr>
          <a:xfrm>
            <a:off x="5298446" y="121665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1DC6C2-5A36-00ED-B908-C509C5E65A56}"/>
              </a:ext>
            </a:extLst>
          </p:cNvPr>
          <p:cNvCxnSpPr>
            <a:cxnSpLocks/>
            <a:endCxn id="10" idx="0"/>
          </p:cNvCxnSpPr>
          <p:nvPr/>
        </p:nvCxnSpPr>
        <p:spPr>
          <a:xfrm rot="5400000">
            <a:off x="7429714" y="2879928"/>
            <a:ext cx="1967915" cy="6048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37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35794 -0.08357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91" y="-419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35833 -0.08357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17" y="-419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00231 L 0.35833 -0.08658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17" y="-4444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00417 L 0.35833 -0.08866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17" y="-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7" grpId="0" animBg="1"/>
      <p:bldP spid="11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8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3E46-9EBD-1F27-9A4A-C35D18B1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3D42-4101-2E66-4EDE-9BB43D64F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the MongoDB Aggregation pipeline work?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51F79-3FA6-5D06-C449-ED9E859B9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collectionName</a:t>
            </a:r>
            <a:r>
              <a:rPr lang="en-US" dirty="0"/>
              <a:t> – is the name of a collection,</a:t>
            </a:r>
          </a:p>
          <a:p>
            <a:r>
              <a:rPr lang="en-US" dirty="0"/>
              <a:t>pipeline – is an array that contains the aggregation stages</a:t>
            </a:r>
          </a:p>
          <a:p>
            <a:r>
              <a:rPr lang="en-US" dirty="0"/>
              <a:t>options – optional parameters for the aggregation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$match stage – filters those documents we need to work with, those that fit our needs</a:t>
            </a:r>
          </a:p>
          <a:p>
            <a:r>
              <a:rPr lang="en-US" dirty="0"/>
              <a:t>$group stage – does the aggregation job</a:t>
            </a:r>
          </a:p>
          <a:p>
            <a:r>
              <a:rPr lang="en-US" dirty="0"/>
              <a:t>$sort  stage – sorts the resulting documents the way we require (ascending or descending)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BE4A8FBA-8F95-D3BF-92A3-B10425EFAAF7}"/>
              </a:ext>
            </a:extLst>
          </p:cNvPr>
          <p:cNvSpPr/>
          <p:nvPr/>
        </p:nvSpPr>
        <p:spPr>
          <a:xfrm>
            <a:off x="521013" y="1253448"/>
            <a:ext cx="457200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db.collectionname.aggregate</a:t>
            </a:r>
            <a:r>
              <a:rPr lang="en-US" dirty="0">
                <a:solidFill>
                  <a:schemeClr val="tx1"/>
                </a:solidFill>
              </a:rPr>
              <a:t>(pipeline, options)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F610E8B8-6DC0-7067-A85A-D30AF0BDE6E9}"/>
              </a:ext>
            </a:extLst>
          </p:cNvPr>
          <p:cNvSpPr/>
          <p:nvPr/>
        </p:nvSpPr>
        <p:spPr>
          <a:xfrm>
            <a:off x="521013" y="887688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B52F62CB-FBD4-C68D-84BD-4E39EA65E23E}"/>
              </a:ext>
            </a:extLst>
          </p:cNvPr>
          <p:cNvSpPr/>
          <p:nvPr/>
        </p:nvSpPr>
        <p:spPr>
          <a:xfrm>
            <a:off x="7880509" y="1253448"/>
            <a:ext cx="4104000" cy="151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[</a:t>
            </a:r>
          </a:p>
          <a:p>
            <a:r>
              <a:rPr lang="en-US" dirty="0">
                <a:solidFill>
                  <a:schemeClr val="tx1"/>
                </a:solidFill>
              </a:rPr>
              <a:t>        { $match : { … } },</a:t>
            </a:r>
          </a:p>
          <a:p>
            <a:r>
              <a:rPr lang="en-US" dirty="0">
                <a:solidFill>
                  <a:schemeClr val="tx1"/>
                </a:solidFill>
              </a:rPr>
              <a:t>        { $group : { … } },</a:t>
            </a:r>
          </a:p>
          <a:p>
            <a:r>
              <a:rPr lang="en-US" dirty="0">
                <a:solidFill>
                  <a:schemeClr val="tx1"/>
                </a:solidFill>
              </a:rPr>
              <a:t>        { $sort : { … } }</a:t>
            </a:r>
          </a:p>
          <a:p>
            <a:r>
              <a:rPr lang="en-US" dirty="0">
                <a:solidFill>
                  <a:schemeClr val="tx1"/>
                </a:solidFill>
              </a:rPr>
              <a:t>       ]</a:t>
            </a: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832D8969-F580-D3B1-DAF9-600DEE9985B6}"/>
              </a:ext>
            </a:extLst>
          </p:cNvPr>
          <p:cNvSpPr/>
          <p:nvPr/>
        </p:nvSpPr>
        <p:spPr>
          <a:xfrm>
            <a:off x="7880509" y="887688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pipeline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19124E2-1E2D-0C91-B7F2-E123EA0567E6}"/>
              </a:ext>
            </a:extLst>
          </p:cNvPr>
          <p:cNvCxnSpPr>
            <a:cxnSpLocks/>
          </p:cNvCxnSpPr>
          <p:nvPr/>
        </p:nvCxnSpPr>
        <p:spPr>
          <a:xfrm flipV="1">
            <a:off x="3752850" y="1070568"/>
            <a:ext cx="4127659" cy="245455"/>
          </a:xfrm>
          <a:prstGeom prst="bentConnector3">
            <a:avLst>
              <a:gd name="adj1" fmla="val -306"/>
            </a:avLst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2A1CF9A-799E-2E5E-ECF8-5C5093DD6A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9" t="16046" r="-1" b="45833"/>
          <a:stretch/>
        </p:blipFill>
        <p:spPr>
          <a:xfrm>
            <a:off x="521013" y="3585961"/>
            <a:ext cx="6186055" cy="81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6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Count number of employee in emp collection.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Count department wise number of employees in emp collection.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Count gender wise number of employees in emp collection.</a:t>
            </a:r>
          </a:p>
          <a:p>
            <a:endParaRPr lang="en-US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654819"/>
            <a:ext cx="5400000" cy="54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().count()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28905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429549"/>
            <a:ext cx="5400000" cy="79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{$group:{_id:"$Dept", </a:t>
            </a:r>
            <a:r>
              <a:rPr lang="en-US" dirty="0" err="1">
                <a:solidFill>
                  <a:schemeClr val="tx1"/>
                </a:solidFill>
              </a:rPr>
              <a:t>EmployeeCount</a:t>
            </a:r>
            <a:r>
              <a:rPr lang="en-US" dirty="0">
                <a:solidFill>
                  <a:schemeClr val="tx1"/>
                </a:solidFill>
              </a:rPr>
              <a:t>:{$sum:1}}} ])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06378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5514484"/>
            <a:ext cx="5400000" cy="79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{$group:{_id:"$Gender", </a:t>
            </a:r>
            <a:r>
              <a:rPr lang="en-US" dirty="0" err="1">
                <a:solidFill>
                  <a:schemeClr val="tx1"/>
                </a:solidFill>
              </a:rPr>
              <a:t>EmployeeCount</a:t>
            </a:r>
            <a:r>
              <a:rPr lang="en-US" dirty="0">
                <a:solidFill>
                  <a:schemeClr val="tx1"/>
                </a:solidFill>
              </a:rPr>
              <a:t>:{$sum:1}}} ])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514872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1AAB9B-E647-063E-4F20-05BDB882B0E7}"/>
              </a:ext>
            </a:extLst>
          </p:cNvPr>
          <p:cNvSpPr txBox="1"/>
          <p:nvPr/>
        </p:nvSpPr>
        <p:spPr>
          <a:xfrm>
            <a:off x="7143196" y="1433148"/>
            <a:ext cx="50040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Gender: ’F’,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Gender: ’M’,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Gender: ’M’,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Gender: ’F’,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Gender: ’M’,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Gender: ’M’,</a:t>
            </a:r>
          </a:p>
          <a:p>
            <a:r>
              <a:rPr lang="en-US" dirty="0"/>
              <a:t>Salary: 19000}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5BC8BD74-ADD0-03EC-79AD-F673C1760AA6}"/>
              </a:ext>
            </a:extLst>
          </p:cNvPr>
          <p:cNvSpPr/>
          <p:nvPr/>
        </p:nvSpPr>
        <p:spPr>
          <a:xfrm>
            <a:off x="714319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65EE022E-0EC7-F13C-FDEF-052AE6EC6163}"/>
              </a:ext>
            </a:extLst>
          </p:cNvPr>
          <p:cNvSpPr/>
          <p:nvPr/>
        </p:nvSpPr>
        <p:spPr>
          <a:xfrm>
            <a:off x="1868404" y="1690819"/>
            <a:ext cx="3600000" cy="46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52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6" grpId="0" animBg="1"/>
      <p:bldP spid="1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Display department wise total salary.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 department wise maximum and minimum salary.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 department wise average salary.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654819"/>
            <a:ext cx="5400000" cy="79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{"$group":{_id:"$</a:t>
            </a:r>
            <a:r>
              <a:rPr lang="en-US" dirty="0" err="1">
                <a:solidFill>
                  <a:schemeClr val="tx1"/>
                </a:solidFill>
              </a:rPr>
              <a:t>Dept</a:t>
            </a:r>
            <a:r>
              <a:rPr lang="en-US" dirty="0">
                <a:solidFill>
                  <a:schemeClr val="tx1"/>
                </a:solidFill>
              </a:rPr>
              <a:t>", </a:t>
            </a:r>
            <a:r>
              <a:rPr lang="en-US" dirty="0" err="1">
                <a:solidFill>
                  <a:schemeClr val="tx1"/>
                </a:solidFill>
              </a:rPr>
              <a:t>TotalSalary</a:t>
            </a:r>
            <a:r>
              <a:rPr lang="en-US" dirty="0">
                <a:solidFill>
                  <a:schemeClr val="tx1"/>
                </a:solidFill>
              </a:rPr>
              <a:t>:{$sum: "$Salary"}}} ])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28905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762056"/>
            <a:ext cx="5760000" cy="1044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{$group:{_id:"$Dept", </a:t>
            </a:r>
          </a:p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MaxSalary</a:t>
            </a:r>
            <a:r>
              <a:rPr lang="en-US" dirty="0">
                <a:solidFill>
                  <a:schemeClr val="tx1"/>
                </a:solidFill>
              </a:rPr>
              <a:t>:{$max: "$Salary"}, </a:t>
            </a:r>
            <a:r>
              <a:rPr lang="en-US" dirty="0" err="1">
                <a:solidFill>
                  <a:schemeClr val="tx1"/>
                </a:solidFill>
              </a:rPr>
              <a:t>MinSalary</a:t>
            </a:r>
            <a:r>
              <a:rPr lang="en-US" dirty="0">
                <a:solidFill>
                  <a:schemeClr val="tx1"/>
                </a:solidFill>
              </a:rPr>
              <a:t>:{$min: "$Salary"}}} ])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39629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5625321"/>
            <a:ext cx="5400000" cy="79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{"$group":{_id:"$</a:t>
            </a:r>
            <a:r>
              <a:rPr lang="en-US" dirty="0" err="1">
                <a:solidFill>
                  <a:schemeClr val="tx1"/>
                </a:solidFill>
              </a:rPr>
              <a:t>Dept</a:t>
            </a:r>
            <a:r>
              <a:rPr lang="en-US" dirty="0">
                <a:solidFill>
                  <a:schemeClr val="tx1"/>
                </a:solidFill>
              </a:rPr>
              <a:t>", </a:t>
            </a:r>
            <a:r>
              <a:rPr lang="en-US" dirty="0" err="1">
                <a:solidFill>
                  <a:schemeClr val="tx1"/>
                </a:solidFill>
              </a:rPr>
              <a:t>AvgSalary</a:t>
            </a:r>
            <a:r>
              <a:rPr lang="en-US" dirty="0">
                <a:solidFill>
                  <a:schemeClr val="tx1"/>
                </a:solidFill>
              </a:rPr>
              <a:t>:{$</a:t>
            </a:r>
            <a:r>
              <a:rPr lang="en-US" dirty="0" err="1">
                <a:solidFill>
                  <a:schemeClr val="tx1"/>
                </a:solidFill>
              </a:rPr>
              <a:t>avg</a:t>
            </a:r>
            <a:r>
              <a:rPr lang="en-US" dirty="0">
                <a:solidFill>
                  <a:schemeClr val="tx1"/>
                </a:solidFill>
              </a:rPr>
              <a:t>:"$Salary"}}} ])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525956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8232BD-6CE4-4612-4A64-92D400908639}"/>
              </a:ext>
            </a:extLst>
          </p:cNvPr>
          <p:cNvSpPr txBox="1"/>
          <p:nvPr/>
        </p:nvSpPr>
        <p:spPr>
          <a:xfrm>
            <a:off x="7143196" y="1433148"/>
            <a:ext cx="50040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Gender: ’F’,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Gender: ’M’,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Gender: ’M’,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Gender: ’F’,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Gender: ’M’,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Gender: ’M’,</a:t>
            </a:r>
          </a:p>
          <a:p>
            <a:r>
              <a:rPr lang="en-US" dirty="0"/>
              <a:t>Salary: 19000}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0622AD42-AE42-5BF7-9D3D-F184ADA10FBB}"/>
              </a:ext>
            </a:extLst>
          </p:cNvPr>
          <p:cNvSpPr/>
          <p:nvPr/>
        </p:nvSpPr>
        <p:spPr>
          <a:xfrm>
            <a:off x="714319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Count gender wise department wise number of employees in a </a:t>
            </a:r>
            <a:r>
              <a:rPr lang="en-US" dirty="0" err="1"/>
              <a:t>emp</a:t>
            </a:r>
            <a:r>
              <a:rPr lang="en-US" dirty="0"/>
              <a:t> collection.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 gender wise department wise maximum and minimum salary.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 distinct values from the Dept field.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941143"/>
            <a:ext cx="4788000" cy="108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{$group:{_id: { </a:t>
            </a:r>
            <a:r>
              <a:rPr lang="en-US" dirty="0" err="1">
                <a:solidFill>
                  <a:schemeClr val="tx1"/>
                </a:solidFill>
              </a:rPr>
              <a:t>Dept</a:t>
            </a:r>
            <a:r>
              <a:rPr lang="en-US" dirty="0">
                <a:solidFill>
                  <a:schemeClr val="tx1"/>
                </a:solidFill>
              </a:rPr>
              <a:t>: "$</a:t>
            </a:r>
            <a:r>
              <a:rPr lang="en-US" dirty="0" err="1">
                <a:solidFill>
                  <a:schemeClr val="tx1"/>
                </a:solidFill>
              </a:rPr>
              <a:t>Dept</a:t>
            </a:r>
            <a:r>
              <a:rPr lang="en-US" dirty="0">
                <a:solidFill>
                  <a:schemeClr val="tx1"/>
                </a:solidFill>
              </a:rPr>
              <a:t>", Gender: "$Gender" }, </a:t>
            </a:r>
          </a:p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EmployeeCount</a:t>
            </a:r>
            <a:r>
              <a:rPr lang="en-US" dirty="0">
                <a:solidFill>
                  <a:schemeClr val="tx1"/>
                </a:solidFill>
              </a:rPr>
              <a:t>:{$sum:1}}} ])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5753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4131515"/>
            <a:ext cx="576000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{$group:{_id: { </a:t>
            </a:r>
            <a:r>
              <a:rPr lang="en-US" dirty="0" err="1">
                <a:solidFill>
                  <a:schemeClr val="tx1"/>
                </a:solidFill>
              </a:rPr>
              <a:t>Dept</a:t>
            </a:r>
            <a:r>
              <a:rPr lang="en-US" dirty="0">
                <a:solidFill>
                  <a:schemeClr val="tx1"/>
                </a:solidFill>
              </a:rPr>
              <a:t>: "$</a:t>
            </a:r>
            <a:r>
              <a:rPr lang="en-US" dirty="0" err="1">
                <a:solidFill>
                  <a:schemeClr val="tx1"/>
                </a:solidFill>
              </a:rPr>
              <a:t>Dept</a:t>
            </a:r>
            <a:r>
              <a:rPr lang="en-US" dirty="0">
                <a:solidFill>
                  <a:schemeClr val="tx1"/>
                </a:solidFill>
              </a:rPr>
              <a:t>", Gender: "$Gender" }, </a:t>
            </a:r>
          </a:p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MaxSalary</a:t>
            </a:r>
            <a:r>
              <a:rPr lang="en-US" dirty="0">
                <a:solidFill>
                  <a:schemeClr val="tx1"/>
                </a:solidFill>
              </a:rPr>
              <a:t>:{$max: "$Salary"}, </a:t>
            </a:r>
            <a:r>
              <a:rPr lang="en-US" dirty="0" err="1">
                <a:solidFill>
                  <a:schemeClr val="tx1"/>
                </a:solidFill>
              </a:rPr>
              <a:t>MinSalary</a:t>
            </a:r>
            <a:r>
              <a:rPr lang="en-US" dirty="0">
                <a:solidFill>
                  <a:schemeClr val="tx1"/>
                </a:solidFill>
              </a:rPr>
              <a:t>:{$min: "$Salary"}}} ])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76575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5994769"/>
            <a:ext cx="4754880" cy="3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([{"$group":{_id:"$Dept"}} ])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562900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9783A-617B-F9F1-8BCA-2A735B308B09}"/>
              </a:ext>
            </a:extLst>
          </p:cNvPr>
          <p:cNvSpPr txBox="1"/>
          <p:nvPr/>
        </p:nvSpPr>
        <p:spPr>
          <a:xfrm>
            <a:off x="7143196" y="1433148"/>
            <a:ext cx="50040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Gender: ’F’,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Gender: ’M’,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Gender: ’M’,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Gender: ’F’,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Gender: ’M’,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Gender: ’M’,</a:t>
            </a:r>
          </a:p>
          <a:p>
            <a:r>
              <a:rPr lang="en-US" dirty="0"/>
              <a:t>Salary: 19000}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FFEF2CEA-6D43-3572-4A9D-2B4785FDDA3E}"/>
              </a:ext>
            </a:extLst>
          </p:cNvPr>
          <p:cNvSpPr/>
          <p:nvPr/>
        </p:nvSpPr>
        <p:spPr>
          <a:xfrm>
            <a:off x="714319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19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Count number of employees in CE department from emp collection.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Count department wise number of employees in a emp collection and display departments having more than one employee.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2015043"/>
            <a:ext cx="475488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 lvl="1"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{$match: { Dept: "CE" } },</a:t>
            </a:r>
          </a:p>
          <a:p>
            <a:pPr lvl="1"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{$group:{_id:"$Dept", count: {$sum: 1}}} ])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6492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481EEFAB-AD30-D1DD-E8C6-ACDE923EF046}"/>
              </a:ext>
            </a:extLst>
          </p:cNvPr>
          <p:cNvSpPr/>
          <p:nvPr/>
        </p:nvSpPr>
        <p:spPr>
          <a:xfrm>
            <a:off x="521013" y="4450859"/>
            <a:ext cx="475488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{"$group":{_id:"$Dept", qty:{$sum:1}}},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{$match: { </a:t>
            </a:r>
            <a:r>
              <a:rPr lang="en-US" dirty="0" err="1">
                <a:solidFill>
                  <a:schemeClr val="tx1"/>
                </a:solidFill>
              </a:rPr>
              <a:t>qty</a:t>
            </a:r>
            <a:r>
              <a:rPr lang="en-US" dirty="0">
                <a:solidFill>
                  <a:schemeClr val="tx1"/>
                </a:solidFill>
              </a:rPr>
              <a:t>: {$</a:t>
            </a:r>
            <a:r>
              <a:rPr lang="en-US" dirty="0" err="1">
                <a:solidFill>
                  <a:schemeClr val="tx1"/>
                </a:solidFill>
              </a:rPr>
              <a:t>gt</a:t>
            </a:r>
            <a:r>
              <a:rPr lang="en-US" dirty="0">
                <a:solidFill>
                  <a:schemeClr val="tx1"/>
                </a:solidFill>
              </a:rPr>
              <a:t>: 1} } }])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129B02C5-6233-3C15-AE45-79C0D4A6D71F}"/>
              </a:ext>
            </a:extLst>
          </p:cNvPr>
          <p:cNvSpPr/>
          <p:nvPr/>
        </p:nvSpPr>
        <p:spPr>
          <a:xfrm>
            <a:off x="521013" y="408509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41675-A8A3-F7E8-D2B4-865A4D5B6BBA}"/>
              </a:ext>
            </a:extLst>
          </p:cNvPr>
          <p:cNvSpPr txBox="1"/>
          <p:nvPr/>
        </p:nvSpPr>
        <p:spPr>
          <a:xfrm>
            <a:off x="7143196" y="1433148"/>
            <a:ext cx="50040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Gender: ’F’,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Gender: ’M’,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Gender: ’M’,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Gender: ’F’,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Gender: ’M’,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Gender: ’M’,</a:t>
            </a:r>
          </a:p>
          <a:p>
            <a:r>
              <a:rPr lang="en-US" dirty="0"/>
              <a:t>Salary: 19000}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D59B0352-EDE8-5F27-1DFA-F84E71240A4B}"/>
              </a:ext>
            </a:extLst>
          </p:cNvPr>
          <p:cNvSpPr/>
          <p:nvPr/>
        </p:nvSpPr>
        <p:spPr>
          <a:xfrm>
            <a:off x="714319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09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Count department wise number of employees in a emp collection and sort the output on number of employee in ascending order.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481EEFAB-AD30-D1DD-E8C6-ACDE923EF046}"/>
              </a:ext>
            </a:extLst>
          </p:cNvPr>
          <p:cNvSpPr/>
          <p:nvPr/>
        </p:nvSpPr>
        <p:spPr>
          <a:xfrm>
            <a:off x="521013" y="2343280"/>
            <a:ext cx="475488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{"$group":{_id:"$Dept", qty:{$sum:1}}},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{$sort: { qty : 1}} ])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129B02C5-6233-3C15-AE45-79C0D4A6D71F}"/>
              </a:ext>
            </a:extLst>
          </p:cNvPr>
          <p:cNvSpPr/>
          <p:nvPr/>
        </p:nvSpPr>
        <p:spPr>
          <a:xfrm>
            <a:off x="521013" y="1977520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B1D8E-DBFB-908E-A402-16E66FDF4FCC}"/>
              </a:ext>
            </a:extLst>
          </p:cNvPr>
          <p:cNvSpPr txBox="1"/>
          <p:nvPr/>
        </p:nvSpPr>
        <p:spPr>
          <a:xfrm>
            <a:off x="7143196" y="1433148"/>
            <a:ext cx="50040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Gender: ’F’,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Gender: ’M’,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Gender: ’M’,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Gender: ’F’,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Gender: ’M’,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Gender: ’M’,</a:t>
            </a:r>
          </a:p>
          <a:p>
            <a:r>
              <a:rPr lang="en-US" dirty="0"/>
              <a:t>Salary: 19000}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A8365BE5-C2AD-68B8-8537-D402E515A50C}"/>
              </a:ext>
            </a:extLst>
          </p:cNvPr>
          <p:cNvSpPr/>
          <p:nvPr/>
        </p:nvSpPr>
        <p:spPr>
          <a:xfrm>
            <a:off x="714319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68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Count number of employees in CE department from emp collection.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Count department wise number of employees in a emp collection and display departments having more than one employee.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2015043"/>
            <a:ext cx="475488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 lvl="1"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{$match: { Dept: "CE" } },</a:t>
            </a:r>
          </a:p>
          <a:p>
            <a:pPr lvl="1"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{$group:{_id:"$Dept", count: {$sum: 1}}} ])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6492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481EEFAB-AD30-D1DD-E8C6-ACDE923EF046}"/>
              </a:ext>
            </a:extLst>
          </p:cNvPr>
          <p:cNvSpPr/>
          <p:nvPr/>
        </p:nvSpPr>
        <p:spPr>
          <a:xfrm>
            <a:off x="521013" y="4450859"/>
            <a:ext cx="475488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{"$group":{_id:"$Dept", qty:{$sum:1}}},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{$match: { </a:t>
            </a:r>
            <a:r>
              <a:rPr lang="en-US" dirty="0" err="1">
                <a:solidFill>
                  <a:schemeClr val="tx1"/>
                </a:solidFill>
              </a:rPr>
              <a:t>qty</a:t>
            </a:r>
            <a:r>
              <a:rPr lang="en-US" dirty="0">
                <a:solidFill>
                  <a:schemeClr val="tx1"/>
                </a:solidFill>
              </a:rPr>
              <a:t>: {$</a:t>
            </a:r>
            <a:r>
              <a:rPr lang="en-US" dirty="0" err="1">
                <a:solidFill>
                  <a:schemeClr val="tx1"/>
                </a:solidFill>
              </a:rPr>
              <a:t>gt</a:t>
            </a:r>
            <a:r>
              <a:rPr lang="en-US" dirty="0">
                <a:solidFill>
                  <a:schemeClr val="tx1"/>
                </a:solidFill>
              </a:rPr>
              <a:t>: 1} } }])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129B02C5-6233-3C15-AE45-79C0D4A6D71F}"/>
              </a:ext>
            </a:extLst>
          </p:cNvPr>
          <p:cNvSpPr/>
          <p:nvPr/>
        </p:nvSpPr>
        <p:spPr>
          <a:xfrm>
            <a:off x="521013" y="408509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22995-9A27-6E5A-F254-C5FE75596D7D}"/>
              </a:ext>
            </a:extLst>
          </p:cNvPr>
          <p:cNvSpPr txBox="1"/>
          <p:nvPr/>
        </p:nvSpPr>
        <p:spPr>
          <a:xfrm>
            <a:off x="7143196" y="1433148"/>
            <a:ext cx="50040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Gender: ’F’,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Gender: ’M’,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Gender: ’M’,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Gender: ’F’,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Gender: ’M’,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Gender: ’M’,</a:t>
            </a:r>
          </a:p>
          <a:p>
            <a:r>
              <a:rPr lang="en-US" dirty="0"/>
              <a:t>Salary: 19000}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3475B5B8-4832-3A41-2874-0B5575EE6218}"/>
              </a:ext>
            </a:extLst>
          </p:cNvPr>
          <p:cNvSpPr/>
          <p:nvPr/>
        </p:nvSpPr>
        <p:spPr>
          <a:xfrm>
            <a:off x="714319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6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Count department wise number of employees in a emp collection and sort the output on number of employee in ascending order.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481EEFAB-AD30-D1DD-E8C6-ACDE923EF046}"/>
              </a:ext>
            </a:extLst>
          </p:cNvPr>
          <p:cNvSpPr/>
          <p:nvPr/>
        </p:nvSpPr>
        <p:spPr>
          <a:xfrm>
            <a:off x="521013" y="2343280"/>
            <a:ext cx="475488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{"$group":{_id:"$Dept", qty:{$sum:1}}},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{$sort: { qty : 1}} ])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129B02C5-6233-3C15-AE45-79C0D4A6D71F}"/>
              </a:ext>
            </a:extLst>
          </p:cNvPr>
          <p:cNvSpPr/>
          <p:nvPr/>
        </p:nvSpPr>
        <p:spPr>
          <a:xfrm>
            <a:off x="521013" y="1977520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92CD3-D8C6-F88C-FD63-D3CDF3847AA0}"/>
              </a:ext>
            </a:extLst>
          </p:cNvPr>
          <p:cNvSpPr txBox="1"/>
          <p:nvPr/>
        </p:nvSpPr>
        <p:spPr>
          <a:xfrm>
            <a:off x="7143196" y="1433148"/>
            <a:ext cx="50040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Gender: ’F’,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Gender: ’M’,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Gender: ’M’,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Gender: ’F’,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Gender: ’M’,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Gender: ’M’,</a:t>
            </a:r>
          </a:p>
          <a:p>
            <a:r>
              <a:rPr lang="en-US" dirty="0"/>
              <a:t>Salary: 19000}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E3016459-3A5F-B578-14EA-F12250DA72DB}"/>
              </a:ext>
            </a:extLst>
          </p:cNvPr>
          <p:cNvSpPr/>
          <p:nvPr/>
        </p:nvSpPr>
        <p:spPr>
          <a:xfrm>
            <a:off x="714319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24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B69E-DE1F-9C56-891F-ADC25C90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5871-2F3F-52A5-8AB9-7A6C50E9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en-US" sz="3200" dirty="0"/>
              <a:t>(Aggregate | $group)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A98138-2431-569F-686D-B48BEC54E721}"/>
              </a:ext>
            </a:extLst>
          </p:cNvPr>
          <p:cNvSpPr/>
          <p:nvPr/>
        </p:nvSpPr>
        <p:spPr>
          <a:xfrm>
            <a:off x="9905998" y="7823"/>
            <a:ext cx="2078183" cy="703378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chemeClr val="accent6"/>
                </a:solidFill>
              </a:rPr>
              <a:t>MongoDB</a:t>
            </a:r>
            <a:endParaRPr lang="en-IN" sz="3400" b="1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E9D8C-C9C2-E1A3-9CD9-0F2199F10810}"/>
              </a:ext>
            </a:extLst>
          </p:cNvPr>
          <p:cNvSpPr txBox="1"/>
          <p:nvPr/>
        </p:nvSpPr>
        <p:spPr>
          <a:xfrm>
            <a:off x="158155" y="127845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Display Gender wise employee’s count. 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05303DE6-EDB9-C5CC-B455-7AC50D276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8845488"/>
              </p:ext>
            </p:extLst>
          </p:nvPr>
        </p:nvGraphicFramePr>
        <p:xfrm>
          <a:off x="158156" y="813630"/>
          <a:ext cx="129600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0A8372-B856-1CDE-DD73-DDA05DDAF131}"/>
              </a:ext>
            </a:extLst>
          </p:cNvPr>
          <p:cNvSpPr txBox="1"/>
          <p:nvPr/>
        </p:nvSpPr>
        <p:spPr>
          <a:xfrm>
            <a:off x="158155" y="16861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([{$group:{_id:"$Gender", 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2A00A-0309-828B-59C3-9DF5E746B2C1}"/>
              </a:ext>
            </a:extLst>
          </p:cNvPr>
          <p:cNvSpPr txBox="1"/>
          <p:nvPr/>
        </p:nvSpPr>
        <p:spPr>
          <a:xfrm>
            <a:off x="158155" y="220555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2"/>
            </a:pPr>
            <a:r>
              <a:rPr lang="en-US" sz="2000" dirty="0"/>
              <a:t>Display Gender wise employee’s total salary.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724D8-163B-4FD1-7A75-7AD27000D4DC}"/>
              </a:ext>
            </a:extLst>
          </p:cNvPr>
          <p:cNvSpPr txBox="1"/>
          <p:nvPr/>
        </p:nvSpPr>
        <p:spPr>
          <a:xfrm>
            <a:off x="158155" y="26132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([{$group:{_id:"$Gender", </a:t>
            </a:r>
            <a:r>
              <a:rPr lang="en-US" sz="2000" dirty="0" err="1"/>
              <a:t>TotalSalary</a:t>
            </a:r>
            <a:r>
              <a:rPr lang="en-US" sz="2000" dirty="0"/>
              <a:t>:{$sum:’$Salary’}}}])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C4B7A8-334E-F33F-043C-D679887EF38D}"/>
              </a:ext>
            </a:extLst>
          </p:cNvPr>
          <p:cNvSpPr txBox="1"/>
          <p:nvPr/>
        </p:nvSpPr>
        <p:spPr>
          <a:xfrm>
            <a:off x="158155" y="31597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3"/>
            </a:pPr>
            <a:r>
              <a:rPr lang="en-US" sz="2000" dirty="0"/>
              <a:t>Display Department wise employee’s Maximum and Minimum salary.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DEFFA-EEDE-AA9E-D23B-E1530CDA5B45}"/>
              </a:ext>
            </a:extLst>
          </p:cNvPr>
          <p:cNvSpPr txBox="1"/>
          <p:nvPr/>
        </p:nvSpPr>
        <p:spPr>
          <a:xfrm>
            <a:off x="158155" y="35722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([{$group:{_id:"$Department", </a:t>
            </a:r>
            <a:r>
              <a:rPr lang="en-US" sz="2000" dirty="0" err="1"/>
              <a:t>MaxSalary</a:t>
            </a:r>
            <a:r>
              <a:rPr lang="en-US" sz="2000" dirty="0"/>
              <a:t>:{$max:'$Salary’}, </a:t>
            </a:r>
            <a:r>
              <a:rPr lang="en-US" sz="2000" dirty="0" err="1"/>
              <a:t>MinSalary</a:t>
            </a:r>
            <a:r>
              <a:rPr lang="en-US" sz="2000" dirty="0"/>
              <a:t>:{$min:'$Salary'}}}])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67A0C-E8C9-D9A6-6278-086EBB2972C2}"/>
              </a:ext>
            </a:extLst>
          </p:cNvPr>
          <p:cNvSpPr txBox="1"/>
          <p:nvPr/>
        </p:nvSpPr>
        <p:spPr>
          <a:xfrm>
            <a:off x="158155" y="41122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4"/>
            </a:pPr>
            <a:r>
              <a:rPr lang="en-US" sz="2000" dirty="0"/>
              <a:t>Display Gender wise City wise employee’s count.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04EC7-8345-69C2-32ED-4BDBCE66D134}"/>
              </a:ext>
            </a:extLst>
          </p:cNvPr>
          <p:cNvSpPr txBox="1"/>
          <p:nvPr/>
        </p:nvSpPr>
        <p:spPr>
          <a:xfrm>
            <a:off x="158155" y="4520017"/>
            <a:ext cx="11664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([{$group:{_id:{Gender: ‘$Gender’, City: ‘$City'}, 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38FBD-38F1-E435-73D8-F4B0FB55C348}"/>
              </a:ext>
            </a:extLst>
          </p:cNvPr>
          <p:cNvSpPr txBox="1"/>
          <p:nvPr/>
        </p:nvSpPr>
        <p:spPr>
          <a:xfrm>
            <a:off x="158155" y="50647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5"/>
            </a:pPr>
            <a:r>
              <a:rPr lang="en-US" sz="2000" dirty="0"/>
              <a:t>Display unique Department names.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EB5D0-9BE2-1868-6AEB-72D8932C670F}"/>
              </a:ext>
            </a:extLst>
          </p:cNvPr>
          <p:cNvSpPr txBox="1"/>
          <p:nvPr/>
        </p:nvSpPr>
        <p:spPr>
          <a:xfrm>
            <a:off x="158155" y="5472517"/>
            <a:ext cx="11664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([{$group:{_id:{Department: "$Department”}}}])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2C742-5EEC-D0BB-14ED-54B6A8432048}"/>
              </a:ext>
            </a:extLst>
          </p:cNvPr>
          <p:cNvSpPr txBox="1"/>
          <p:nvPr/>
        </p:nvSpPr>
        <p:spPr>
          <a:xfrm>
            <a:off x="3438494" y="795053"/>
            <a:ext cx="5652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{_id,  Name, Gender, Age, City, Department, Salary, Incentive}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61A827E3-B1A6-1262-E100-91C1B5FF654C}"/>
              </a:ext>
            </a:extLst>
          </p:cNvPr>
          <p:cNvSpPr/>
          <p:nvPr/>
        </p:nvSpPr>
        <p:spPr>
          <a:xfrm>
            <a:off x="2310734" y="792173"/>
            <a:ext cx="111600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377492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EFCF0-16F1-E917-C8E5-60B57B9D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DB7B-041D-1769-C807-B4A031F1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en-US" sz="3200" dirty="0"/>
              <a:t>(Aggregate | $group and $match)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D14650-45AF-ED38-7056-EBD2AFCD0992}"/>
              </a:ext>
            </a:extLst>
          </p:cNvPr>
          <p:cNvSpPr/>
          <p:nvPr/>
        </p:nvSpPr>
        <p:spPr>
          <a:xfrm>
            <a:off x="9905998" y="7823"/>
            <a:ext cx="2078183" cy="703378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chemeClr val="accent6"/>
                </a:solidFill>
              </a:rPr>
              <a:t>MongoDB</a:t>
            </a:r>
            <a:endParaRPr lang="en-IN" sz="3400" b="1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4D152-CCEF-2DB5-0B7B-25BEDEBB5E41}"/>
              </a:ext>
            </a:extLst>
          </p:cNvPr>
          <p:cNvSpPr txBox="1"/>
          <p:nvPr/>
        </p:nvSpPr>
        <p:spPr>
          <a:xfrm>
            <a:off x="158155" y="127845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Display Male employee’s count. 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2479010B-A104-9D9B-DC5C-71376E23DFB9}"/>
              </a:ext>
            </a:extLst>
          </p:cNvPr>
          <p:cNvGraphicFramePr>
            <a:graphicFrameLocks/>
          </p:cNvGraphicFramePr>
          <p:nvPr/>
        </p:nvGraphicFramePr>
        <p:xfrm>
          <a:off x="158156" y="813630"/>
          <a:ext cx="129600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B25C8B-54DE-2C90-AD31-3FE5A43FE74B}"/>
              </a:ext>
            </a:extLst>
          </p:cNvPr>
          <p:cNvSpPr txBox="1"/>
          <p:nvPr/>
        </p:nvSpPr>
        <p:spPr>
          <a:xfrm>
            <a:off x="158155" y="16861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([{$match: {Gender: ‘Male’}}, {$group:{_id:"$Gender", 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A7F48-9DEA-169C-3AF6-70F2A77E8CBB}"/>
              </a:ext>
            </a:extLst>
          </p:cNvPr>
          <p:cNvSpPr txBox="1"/>
          <p:nvPr/>
        </p:nvSpPr>
        <p:spPr>
          <a:xfrm>
            <a:off x="158155" y="220555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2"/>
            </a:pPr>
            <a:r>
              <a:rPr lang="en-US" sz="2000" dirty="0"/>
              <a:t>Display Gender wise employee’s count, consider the employees whose salary is more than 10000.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7D242E-555D-34C0-3A93-E98811968B61}"/>
              </a:ext>
            </a:extLst>
          </p:cNvPr>
          <p:cNvSpPr txBox="1"/>
          <p:nvPr/>
        </p:nvSpPr>
        <p:spPr>
          <a:xfrm>
            <a:off x="158155" y="26132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([{$match:{Salary:{$gt:10000}}},{$group:{_id:"$Gender",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EA9C82-6B1B-4CB8-983B-A76DFF810C4F}"/>
              </a:ext>
            </a:extLst>
          </p:cNvPr>
          <p:cNvSpPr txBox="1"/>
          <p:nvPr/>
        </p:nvSpPr>
        <p:spPr>
          <a:xfrm>
            <a:off x="158155" y="31597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3"/>
            </a:pPr>
            <a:r>
              <a:rPr lang="en-US" sz="2000" dirty="0"/>
              <a:t>Display Department wise employee’s count of IT and AI department using IN operator.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008104-3E05-B2D2-C791-31F4253AA408}"/>
              </a:ext>
            </a:extLst>
          </p:cNvPr>
          <p:cNvSpPr txBox="1"/>
          <p:nvPr/>
        </p:nvSpPr>
        <p:spPr>
          <a:xfrm>
            <a:off x="158155" y="35722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([{$match:{Dept:{$</a:t>
            </a:r>
            <a:r>
              <a:rPr lang="en-US" sz="2000" dirty="0" err="1"/>
              <a:t>in:’IT’,’AI</a:t>
            </a:r>
            <a:r>
              <a:rPr lang="en-US" sz="2000" dirty="0"/>
              <a:t>']}}},{$group:{_id:"$Department",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760A68-6742-645E-4334-83D1BC528F64}"/>
              </a:ext>
            </a:extLst>
          </p:cNvPr>
          <p:cNvSpPr txBox="1"/>
          <p:nvPr/>
        </p:nvSpPr>
        <p:spPr>
          <a:xfrm>
            <a:off x="158155" y="41122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4"/>
            </a:pPr>
            <a:r>
              <a:rPr lang="en-US" sz="2000" dirty="0"/>
              <a:t>Display City wise employee’s count and display city having more than 5 employee.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267603-FF77-1FC5-3ED4-ECC01AABB13E}"/>
              </a:ext>
            </a:extLst>
          </p:cNvPr>
          <p:cNvSpPr txBox="1"/>
          <p:nvPr/>
        </p:nvSpPr>
        <p:spPr>
          <a:xfrm>
            <a:off x="158155" y="4520017"/>
            <a:ext cx="11664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([{$group:{_id:{City: ‘$City'}, </a:t>
            </a:r>
            <a:r>
              <a:rPr lang="en-US" sz="2000" dirty="0" err="1"/>
              <a:t>ECount</a:t>
            </a:r>
            <a:r>
              <a:rPr lang="en-US" sz="2000" dirty="0"/>
              <a:t>:{$sum:1}}}, {$match: {</a:t>
            </a:r>
            <a:r>
              <a:rPr lang="en-US" sz="2000" dirty="0" err="1"/>
              <a:t>Ecount</a:t>
            </a:r>
            <a:r>
              <a:rPr lang="en-US" sz="2000" dirty="0"/>
              <a:t>: {$</a:t>
            </a:r>
            <a:r>
              <a:rPr lang="en-US" sz="2000" dirty="0" err="1"/>
              <a:t>gt</a:t>
            </a:r>
            <a:r>
              <a:rPr lang="en-US" sz="2000" dirty="0"/>
              <a:t>: 5}}}])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12C6B2-EE51-9EE1-0895-9DBC9E9570C0}"/>
              </a:ext>
            </a:extLst>
          </p:cNvPr>
          <p:cNvSpPr txBox="1"/>
          <p:nvPr/>
        </p:nvSpPr>
        <p:spPr>
          <a:xfrm>
            <a:off x="158155" y="50647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5"/>
            </a:pPr>
            <a:r>
              <a:rPr lang="en-US" sz="2000" dirty="0"/>
              <a:t>Display City wise employee’s count and sort the output on </a:t>
            </a:r>
            <a:r>
              <a:rPr lang="en-US" sz="2000" dirty="0" err="1"/>
              <a:t>EmployeeCount</a:t>
            </a:r>
            <a:r>
              <a:rPr lang="en-US" sz="2000" dirty="0"/>
              <a:t> in ascending order.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7A5580-4E6E-B073-7763-6F12B2D0D3B8}"/>
              </a:ext>
            </a:extLst>
          </p:cNvPr>
          <p:cNvSpPr txBox="1"/>
          <p:nvPr/>
        </p:nvSpPr>
        <p:spPr>
          <a:xfrm>
            <a:off x="158155" y="5472517"/>
            <a:ext cx="11664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 ([{$group:{_id:{City: ‘$City'}, </a:t>
            </a:r>
            <a:r>
              <a:rPr lang="en-US" sz="2000" dirty="0" err="1"/>
              <a:t>ECount</a:t>
            </a:r>
            <a:r>
              <a:rPr lang="en-US" sz="2000" dirty="0"/>
              <a:t>:{$sum:1}}}, {$sort: {</a:t>
            </a:r>
            <a:r>
              <a:rPr lang="en-US" sz="2000" dirty="0" err="1"/>
              <a:t>Ecount</a:t>
            </a:r>
            <a:r>
              <a:rPr lang="en-US" sz="2000" dirty="0"/>
              <a:t>: 1}}])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B54AB-B05E-79DD-4D63-9138CC18B23D}"/>
              </a:ext>
            </a:extLst>
          </p:cNvPr>
          <p:cNvSpPr txBox="1"/>
          <p:nvPr/>
        </p:nvSpPr>
        <p:spPr>
          <a:xfrm>
            <a:off x="3438494" y="795053"/>
            <a:ext cx="5652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{_id,  Name, Gender, Age, City, Department, Salary, Incentive}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12421E75-9E42-6013-03A3-8B967B623346}"/>
              </a:ext>
            </a:extLst>
          </p:cNvPr>
          <p:cNvSpPr/>
          <p:nvPr/>
        </p:nvSpPr>
        <p:spPr>
          <a:xfrm>
            <a:off x="2310734" y="792173"/>
            <a:ext cx="111600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415588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Indexes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3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Indexes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index]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Indexes support the efficient resolution of queries. </a:t>
            </a:r>
          </a:p>
          <a:p>
            <a:r>
              <a:rPr lang="en-US" dirty="0"/>
              <a:t>Without indexes, </a:t>
            </a:r>
            <a:r>
              <a:rPr lang="en-US" dirty="0" err="1"/>
              <a:t>MongoDB</a:t>
            </a:r>
            <a:r>
              <a:rPr lang="en-US" dirty="0"/>
              <a:t> must scan every document of a collection to select those documents that match the query statement. </a:t>
            </a:r>
          </a:p>
          <a:p>
            <a:r>
              <a:rPr lang="en-US" dirty="0"/>
              <a:t>This scan is highly inefficient and require </a:t>
            </a:r>
            <a:r>
              <a:rPr lang="en-US" dirty="0" err="1"/>
              <a:t>MongoDB</a:t>
            </a:r>
            <a:r>
              <a:rPr lang="en-US" dirty="0"/>
              <a:t> to process a large volume of data.</a:t>
            </a:r>
          </a:p>
          <a:p>
            <a:r>
              <a:rPr lang="en-US" dirty="0"/>
              <a:t>Indexes are </a:t>
            </a:r>
            <a:r>
              <a:rPr lang="en-US" dirty="0">
                <a:solidFill>
                  <a:schemeClr val="accent6"/>
                </a:solidFill>
              </a:rPr>
              <a:t>special data structures, that store a small portion of the data set in an easy-to-traverse form</a:t>
            </a:r>
            <a:r>
              <a:rPr lang="en-US" dirty="0"/>
              <a:t>. </a:t>
            </a:r>
          </a:p>
          <a:p>
            <a:r>
              <a:rPr lang="en-US" dirty="0"/>
              <a:t>The index </a:t>
            </a:r>
            <a:r>
              <a:rPr lang="en-US" dirty="0">
                <a:solidFill>
                  <a:schemeClr val="accent6"/>
                </a:solidFill>
              </a:rPr>
              <a:t>stores the value of a specific field or set of fields, ordered by the value of the field as specified in the index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Here key is the name of the field on which you want to create index and 1 is for ascending order. </a:t>
            </a:r>
          </a:p>
          <a:p>
            <a:pPr lvl="1"/>
            <a:r>
              <a:rPr lang="en-US" dirty="0"/>
              <a:t>To create index in descending order you need to use -1. 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4464996"/>
            <a:ext cx="457200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db.collectionName.createIndex</a:t>
            </a:r>
            <a:r>
              <a:rPr lang="en-US" dirty="0">
                <a:solidFill>
                  <a:schemeClr val="tx1"/>
                </a:solidFill>
              </a:rPr>
              <a:t>({KEY:1})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409923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185506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Indexes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index]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Create an index on “</a:t>
            </a:r>
            <a:r>
              <a:rPr lang="en-US" dirty="0" err="1"/>
              <a:t>FirstName</a:t>
            </a:r>
            <a:r>
              <a:rPr lang="en-US" dirty="0"/>
              <a:t>” on </a:t>
            </a:r>
            <a:r>
              <a:rPr lang="en-US" dirty="0" err="1"/>
              <a:t>emp</a:t>
            </a:r>
            <a:r>
              <a:rPr lang="en-US" dirty="0"/>
              <a:t> collection.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r>
              <a:rPr lang="en-US" dirty="0"/>
              <a:t>Retrieves all the indexes in the collection emp.</a:t>
            </a:r>
          </a:p>
          <a:p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Drop an index created on “FirstName” from emp collection.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How to check which index is used by the find method.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281746" y="1433148"/>
            <a:ext cx="4779075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2023-07-10T05:31:14.168Z}, </a:t>
            </a:r>
          </a:p>
          <a:p>
            <a:r>
              <a:rPr lang="en-US" dirty="0"/>
              <a:t>{_id : 2,  FirstName : "Milan", Dept : “IT”,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 },</a:t>
            </a:r>
          </a:p>
          <a:p>
            <a:r>
              <a:rPr lang="en-US" dirty="0"/>
              <a:t>{_id : 3,  FirstName : "Sohan", Dept : “CE”,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 },</a:t>
            </a:r>
          </a:p>
          <a:p>
            <a:r>
              <a:rPr lang="en-US" dirty="0"/>
              <a:t>{_id : 4,  FirstName : "Nehal", Dept : “CE”,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2023-07-10T05:31:14.168Z}, </a:t>
            </a:r>
          </a:p>
          <a:p>
            <a:r>
              <a:rPr lang="en-US" dirty="0"/>
              <a:t>{_id : 5,  FirstName : "Mitesh", Dept : “IT”,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 },</a:t>
            </a:r>
          </a:p>
          <a:p>
            <a:r>
              <a:rPr lang="en-US" dirty="0"/>
              <a:t>{_id : 6,  FirstName : “Ashok", Dept : “EC”,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 }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654819"/>
            <a:ext cx="4754880" cy="3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db.emp.createIndex</a:t>
            </a:r>
            <a:r>
              <a:rPr lang="en-US" dirty="0">
                <a:solidFill>
                  <a:schemeClr val="tx1"/>
                </a:solidFill>
              </a:rPr>
              <a:t>({</a:t>
            </a:r>
            <a:r>
              <a:rPr lang="en-US" dirty="0" err="1">
                <a:solidFill>
                  <a:schemeClr val="tx1"/>
                </a:solidFill>
              </a:rPr>
              <a:t>FirstName</a:t>
            </a:r>
            <a:r>
              <a:rPr lang="en-US" dirty="0">
                <a:solidFill>
                  <a:schemeClr val="tx1"/>
                </a:solidFill>
              </a:rPr>
              <a:t>: 1})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289059"/>
            <a:ext cx="100584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28174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2764870"/>
            <a:ext cx="4754880" cy="3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db.emp.getIndexes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2399110"/>
            <a:ext cx="100584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4252438"/>
            <a:ext cx="4754880" cy="3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db.emp.dropIndex</a:t>
            </a:r>
            <a:r>
              <a:rPr lang="en-US" dirty="0">
                <a:solidFill>
                  <a:schemeClr val="tx1"/>
                </a:solidFill>
              </a:rPr>
              <a:t>({</a:t>
            </a:r>
            <a:r>
              <a:rPr lang="en-US" dirty="0" err="1">
                <a:solidFill>
                  <a:schemeClr val="tx1"/>
                </a:solidFill>
              </a:rPr>
              <a:t>FirstName</a:t>
            </a:r>
            <a:r>
              <a:rPr lang="en-US" dirty="0">
                <a:solidFill>
                  <a:schemeClr val="tx1"/>
                </a:solidFill>
              </a:rPr>
              <a:t>: 1})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3886678"/>
            <a:ext cx="100584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953B4560-50FA-038B-A67A-F4E0B405738A}"/>
              </a:ext>
            </a:extLst>
          </p:cNvPr>
          <p:cNvSpPr/>
          <p:nvPr/>
        </p:nvSpPr>
        <p:spPr>
          <a:xfrm>
            <a:off x="521012" y="5803659"/>
            <a:ext cx="5688000" cy="3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({FirstName: “Neha”})</a:t>
            </a:r>
            <a:r>
              <a:rPr lang="en-IN" dirty="0">
                <a:solidFill>
                  <a:schemeClr val="tx1"/>
                </a:solidFill>
              </a:rPr>
              <a:t> .explain("</a:t>
            </a:r>
            <a:r>
              <a:rPr lang="en-IN" dirty="0" err="1">
                <a:solidFill>
                  <a:schemeClr val="tx1"/>
                </a:solidFill>
              </a:rPr>
              <a:t>executionStats</a:t>
            </a:r>
            <a:r>
              <a:rPr lang="en-IN" dirty="0">
                <a:solidFill>
                  <a:schemeClr val="tx1"/>
                </a:solidFill>
              </a:rPr>
              <a:t>")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10185860-EFA2-B973-DBEE-0F7057D491A3}"/>
              </a:ext>
            </a:extLst>
          </p:cNvPr>
          <p:cNvSpPr/>
          <p:nvPr/>
        </p:nvSpPr>
        <p:spPr>
          <a:xfrm>
            <a:off x="521013" y="5437899"/>
            <a:ext cx="100584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94809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9" grpId="0" animBg="1"/>
      <p:bldP spid="10" grpId="0" animBg="1"/>
      <p:bldP spid="11" grpId="0" animBg="1"/>
      <p:bldP spid="16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5ABD6-73A7-8A2F-8437-EB983037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69A3-EC35-5F2D-FBB2-EAFDA0B8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Indexes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index]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67080-F18F-2A48-6D68-C38483287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2275" cy="5590565"/>
          </a:xfrm>
        </p:spPr>
        <p:txBody>
          <a:bodyPr/>
          <a:lstStyle/>
          <a:p>
            <a:r>
              <a:rPr lang="en-IN" dirty="0"/>
              <a:t>Single Field Index / Index on one field:</a:t>
            </a:r>
          </a:p>
          <a:p>
            <a:endParaRPr lang="en-IN" dirty="0"/>
          </a:p>
          <a:p>
            <a:endParaRPr lang="en-US" dirty="0"/>
          </a:p>
          <a:p>
            <a:r>
              <a:rPr lang="en-IN" dirty="0"/>
              <a:t>Compound Index / Index on multiple fields (</a:t>
            </a:r>
            <a:r>
              <a:rPr lang="en-US" dirty="0"/>
              <a:t>Used when query uses multiple fields</a:t>
            </a:r>
            <a:r>
              <a:rPr lang="en-IN" dirty="0"/>
              <a:t>)</a:t>
            </a:r>
            <a:endParaRPr lang="en-US" dirty="0"/>
          </a:p>
          <a:p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34FD2173-694E-D857-C4D2-6B3477BED1E3}"/>
              </a:ext>
            </a:extLst>
          </p:cNvPr>
          <p:cNvSpPr/>
          <p:nvPr/>
        </p:nvSpPr>
        <p:spPr>
          <a:xfrm>
            <a:off x="521013" y="1654819"/>
            <a:ext cx="4754880" cy="3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err="1">
                <a:solidFill>
                  <a:schemeClr val="tx1"/>
                </a:solidFill>
              </a:rPr>
              <a:t>db.students.createIndex</a:t>
            </a:r>
            <a:r>
              <a:rPr lang="en-IN" dirty="0">
                <a:solidFill>
                  <a:schemeClr val="tx1"/>
                </a:solidFill>
              </a:rPr>
              <a:t>({ name: 1 })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24452AE8-B1C1-F530-F556-DF0410A8DEFC}"/>
              </a:ext>
            </a:extLst>
          </p:cNvPr>
          <p:cNvSpPr/>
          <p:nvPr/>
        </p:nvSpPr>
        <p:spPr>
          <a:xfrm>
            <a:off x="521013" y="1289059"/>
            <a:ext cx="100584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EFEF17DB-3593-ABA2-832B-4EC667B15584}"/>
              </a:ext>
            </a:extLst>
          </p:cNvPr>
          <p:cNvSpPr/>
          <p:nvPr/>
        </p:nvSpPr>
        <p:spPr>
          <a:xfrm>
            <a:off x="521013" y="3014255"/>
            <a:ext cx="4754880" cy="3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IN" dirty="0" err="1">
                <a:solidFill>
                  <a:schemeClr val="tx1"/>
                </a:solidFill>
              </a:rPr>
              <a:t>db.students.createIndex</a:t>
            </a:r>
            <a:r>
              <a:rPr lang="en-IN" dirty="0">
                <a:solidFill>
                  <a:schemeClr val="tx1"/>
                </a:solidFill>
              </a:rPr>
              <a:t>({ dept: 1, marks: -1 })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43E0AE8A-FF8D-ED29-6AF7-CDAE4985A872}"/>
              </a:ext>
            </a:extLst>
          </p:cNvPr>
          <p:cNvSpPr/>
          <p:nvPr/>
        </p:nvSpPr>
        <p:spPr>
          <a:xfrm>
            <a:off x="521013" y="2648495"/>
            <a:ext cx="100584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86721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F61C-0AD5-8056-CA7E-53ECBAC7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C77F-C080-4896-AB1C-3B168C0F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Indexes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index]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31D36-FB72-2142-DF85-19C0B3A82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b="1" dirty="0"/>
              <a:t>Advantages of Index</a:t>
            </a:r>
          </a:p>
          <a:p>
            <a:pPr lvl="1" algn="l"/>
            <a:r>
              <a:rPr lang="en-US" dirty="0"/>
              <a:t>Fast searching</a:t>
            </a:r>
          </a:p>
          <a:p>
            <a:pPr lvl="1" algn="l"/>
            <a:r>
              <a:rPr lang="en-US" dirty="0"/>
              <a:t>Fast sorting</a:t>
            </a:r>
          </a:p>
          <a:p>
            <a:pPr lvl="1" algn="l"/>
            <a:r>
              <a:rPr lang="en-US" dirty="0"/>
              <a:t>Improves performance usually in find method</a:t>
            </a:r>
          </a:p>
          <a:p>
            <a:r>
              <a:rPr lang="en-US" b="1" dirty="0"/>
              <a:t>Disadvantages of Index</a:t>
            </a:r>
          </a:p>
          <a:p>
            <a:pPr lvl="1" algn="l"/>
            <a:r>
              <a:rPr lang="en-US" dirty="0"/>
              <a:t>Takes extra storage</a:t>
            </a:r>
          </a:p>
          <a:p>
            <a:pPr lvl="1" algn="l"/>
            <a:r>
              <a:rPr lang="en-US" dirty="0"/>
              <a:t>Slows down insert/update (because index also updates)</a:t>
            </a:r>
          </a:p>
          <a:p>
            <a:pPr lvl="1"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80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Cursor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714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cursor</a:t>
            </a:r>
            <a:r>
              <a:rPr lang="en-US" dirty="0"/>
              <a:t> in MongoDB is a pointer to the result set of a query.</a:t>
            </a:r>
          </a:p>
          <a:p>
            <a:r>
              <a:rPr lang="en-US" dirty="0"/>
              <a:t>When you run a find() query, MongoDB does </a:t>
            </a:r>
            <a:r>
              <a:rPr lang="en-US" b="1" dirty="0"/>
              <a:t>not</a:t>
            </a:r>
            <a:r>
              <a:rPr lang="en-US" dirty="0"/>
              <a:t> return all documents at once.</a:t>
            </a:r>
            <a:br>
              <a:rPr lang="en-US" dirty="0"/>
            </a:br>
            <a:r>
              <a:rPr lang="en-US" dirty="0"/>
              <a:t>Instead, it returns a </a:t>
            </a:r>
            <a:r>
              <a:rPr lang="en-US" b="1" dirty="0"/>
              <a:t>cursor</a:t>
            </a:r>
            <a:r>
              <a:rPr lang="en-US" dirty="0"/>
              <a:t> that allows you to iterate through the results.</a:t>
            </a:r>
          </a:p>
          <a:p>
            <a:r>
              <a:rPr lang="en-US" b="1" dirty="0"/>
              <a:t>What is a Cursor?</a:t>
            </a:r>
          </a:p>
          <a:p>
            <a:pPr lvl="1"/>
            <a:r>
              <a:rPr lang="en-US" dirty="0" err="1"/>
              <a:t>db.students.find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👉 This does NOT immediately return all documents.</a:t>
            </a:r>
          </a:p>
          <a:p>
            <a:pPr lvl="1"/>
            <a:r>
              <a:rPr lang="en-US" dirty="0"/>
              <a:t>👉 It returns a </a:t>
            </a:r>
            <a:r>
              <a:rPr lang="en-US" b="1" dirty="0"/>
              <a:t>cursor object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cursor fetches documents in </a:t>
            </a:r>
            <a:r>
              <a:rPr lang="en-US" b="1" dirty="0"/>
              <a:t>batches</a:t>
            </a:r>
            <a:r>
              <a:rPr lang="en-US" dirty="0"/>
              <a:t>.</a:t>
            </a:r>
          </a:p>
          <a:p>
            <a:r>
              <a:rPr lang="en-US" dirty="0"/>
              <a:t>The following example gets the cursor object and assign it to a variable.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display the content of a cursor.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Cursor</a:t>
            </a:r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65228B91-C0E8-AD02-44C4-3128242B0239}"/>
              </a:ext>
            </a:extLst>
          </p:cNvPr>
          <p:cNvSpPr/>
          <p:nvPr/>
        </p:nvSpPr>
        <p:spPr>
          <a:xfrm>
            <a:off x="521013" y="4672809"/>
            <a:ext cx="457200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var </a:t>
            </a:r>
            <a:r>
              <a:rPr lang="en-US" dirty="0" err="1">
                <a:solidFill>
                  <a:schemeClr val="tx1"/>
                </a:solidFill>
              </a:rPr>
              <a:t>cursor_name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db.collection_name.find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63EAA5A0-1BCE-C12C-99DE-F9A294284D70}"/>
              </a:ext>
            </a:extLst>
          </p:cNvPr>
          <p:cNvSpPr/>
          <p:nvPr/>
        </p:nvSpPr>
        <p:spPr>
          <a:xfrm>
            <a:off x="521013" y="430704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93E9515C-7E6E-9C22-A0B7-85F64E150069}"/>
              </a:ext>
            </a:extLst>
          </p:cNvPr>
          <p:cNvSpPr/>
          <p:nvPr/>
        </p:nvSpPr>
        <p:spPr>
          <a:xfrm>
            <a:off x="6396684" y="4672809"/>
            <a:ext cx="475488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var emp = </a:t>
            </a:r>
            <a:r>
              <a:rPr lang="en-US" dirty="0" err="1">
                <a:solidFill>
                  <a:schemeClr val="tx1"/>
                </a:solidFill>
              </a:rPr>
              <a:t>db.employees.find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D5879CB-23EA-5141-CD93-E67CC7E046F9}"/>
              </a:ext>
            </a:extLst>
          </p:cNvPr>
          <p:cNvSpPr/>
          <p:nvPr/>
        </p:nvSpPr>
        <p:spPr>
          <a:xfrm>
            <a:off x="6396684" y="430704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B313F7A7-D8CA-4616-B047-90033FC9E803}"/>
              </a:ext>
            </a:extLst>
          </p:cNvPr>
          <p:cNvSpPr/>
          <p:nvPr/>
        </p:nvSpPr>
        <p:spPr>
          <a:xfrm>
            <a:off x="521013" y="6077677"/>
            <a:ext cx="457200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cursor_name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04E98CAB-E91D-59ED-265D-8103BA8582EF}"/>
              </a:ext>
            </a:extLst>
          </p:cNvPr>
          <p:cNvSpPr/>
          <p:nvPr/>
        </p:nvSpPr>
        <p:spPr>
          <a:xfrm>
            <a:off x="521013" y="571191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0C330137-9889-D8EC-7A47-EE47E96F554F}"/>
              </a:ext>
            </a:extLst>
          </p:cNvPr>
          <p:cNvSpPr/>
          <p:nvPr/>
        </p:nvSpPr>
        <p:spPr>
          <a:xfrm>
            <a:off x="6396684" y="6077677"/>
            <a:ext cx="475488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emp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C15EB4F2-A8C1-BA37-86C2-8EFE38644E06}"/>
              </a:ext>
            </a:extLst>
          </p:cNvPr>
          <p:cNvSpPr/>
          <p:nvPr/>
        </p:nvSpPr>
        <p:spPr>
          <a:xfrm>
            <a:off x="6396684" y="571191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81835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B20D-6846-660C-2DBF-C7C590B2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A3960-C3D9-0BAF-7D4A-062AEAF6C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collection has </a:t>
            </a:r>
            <a:r>
              <a:rPr lang="en-US" b="1" dirty="0"/>
              <a:t>10 lakh documents</a:t>
            </a:r>
            <a:r>
              <a:rPr lang="en-US" dirty="0"/>
              <a:t>.</a:t>
            </a:r>
          </a:p>
          <a:p>
            <a:r>
              <a:rPr lang="en-US" dirty="0"/>
              <a:t>If MongoDB returned everything at once:</a:t>
            </a:r>
          </a:p>
          <a:p>
            <a:pPr lvl="1"/>
            <a:r>
              <a:rPr lang="en-US" dirty="0"/>
              <a:t>❌ High memory usage</a:t>
            </a:r>
          </a:p>
          <a:p>
            <a:pPr lvl="1"/>
            <a:r>
              <a:rPr lang="en-US" dirty="0"/>
              <a:t>❌ Slow performance</a:t>
            </a:r>
          </a:p>
          <a:p>
            <a:pPr lvl="1"/>
            <a:r>
              <a:rPr lang="en-US" dirty="0"/>
              <a:t>❌ </a:t>
            </a:r>
            <a:r>
              <a:rPr lang="en-IN" dirty="0"/>
              <a:t>Possible system crash</a:t>
            </a:r>
            <a:endParaRPr lang="en-US" dirty="0"/>
          </a:p>
          <a:p>
            <a:pPr lvl="1"/>
            <a:r>
              <a:rPr lang="en-US" dirty="0"/>
              <a:t>❌ </a:t>
            </a:r>
            <a:r>
              <a:rPr lang="en-IN" dirty="0"/>
              <a:t>Network overload</a:t>
            </a:r>
            <a:endParaRPr lang="en-US" dirty="0"/>
          </a:p>
          <a:p>
            <a:r>
              <a:rPr lang="en-US" dirty="0"/>
              <a:t>So MongoDB:</a:t>
            </a:r>
          </a:p>
          <a:p>
            <a:pPr lvl="1"/>
            <a:r>
              <a:rPr lang="en-US" dirty="0"/>
              <a:t>Returns results in batches</a:t>
            </a:r>
          </a:p>
          <a:p>
            <a:pPr lvl="1"/>
            <a:r>
              <a:rPr lang="en-US" dirty="0"/>
              <a:t>Fetches more data only when needed</a:t>
            </a:r>
          </a:p>
          <a:p>
            <a:pPr lvl="1"/>
            <a:r>
              <a:rPr lang="en-US" dirty="0"/>
              <a:t>This makes it efficient.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123BA-C165-888F-2623-9A2C6564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Cursor is Needed?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206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Cursor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 err="1"/>
              <a:t>cursor.next</a:t>
            </a:r>
            <a:r>
              <a:rPr lang="en-US" dirty="0"/>
              <a:t>()	 returns the next document from the result set.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cursor.forEach</a:t>
            </a:r>
            <a:r>
              <a:rPr lang="en-US" dirty="0"/>
              <a:t>() iterates the cursor means </a:t>
            </a:r>
            <a:r>
              <a:rPr lang="en-IN" dirty="0"/>
              <a:t>loops through all documents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Checks if more documents exist.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93E9515C-7E6E-9C22-A0B7-85F64E150069}"/>
              </a:ext>
            </a:extLst>
          </p:cNvPr>
          <p:cNvSpPr/>
          <p:nvPr/>
        </p:nvSpPr>
        <p:spPr>
          <a:xfrm>
            <a:off x="480793" y="1749496"/>
            <a:ext cx="475488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emp.next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D5879CB-23EA-5141-CD93-E67CC7E046F9}"/>
              </a:ext>
            </a:extLst>
          </p:cNvPr>
          <p:cNvSpPr/>
          <p:nvPr/>
        </p:nvSpPr>
        <p:spPr>
          <a:xfrm>
            <a:off x="480793" y="138373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0C330137-9889-D8EC-7A47-EE47E96F554F}"/>
              </a:ext>
            </a:extLst>
          </p:cNvPr>
          <p:cNvSpPr/>
          <p:nvPr/>
        </p:nvSpPr>
        <p:spPr>
          <a:xfrm>
            <a:off x="480793" y="3078651"/>
            <a:ext cx="475488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emp.(</a:t>
            </a:r>
            <a:r>
              <a:rPr lang="en-US" dirty="0" err="1">
                <a:solidFill>
                  <a:schemeClr val="tx1"/>
                </a:solidFill>
              </a:rPr>
              <a:t>forEach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printjson</a:t>
            </a:r>
            <a:r>
              <a:rPr lang="en-US" dirty="0">
                <a:solidFill>
                  <a:schemeClr val="tx1"/>
                </a:solidFill>
              </a:rPr>
              <a:t>))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C15EB4F2-A8C1-BA37-86C2-8EFE38644E06}"/>
              </a:ext>
            </a:extLst>
          </p:cNvPr>
          <p:cNvSpPr/>
          <p:nvPr/>
        </p:nvSpPr>
        <p:spPr>
          <a:xfrm>
            <a:off x="480793" y="271289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B5F7D1FF-7CDA-AB2E-8377-97BDCDB466D6}"/>
              </a:ext>
            </a:extLst>
          </p:cNvPr>
          <p:cNvSpPr/>
          <p:nvPr/>
        </p:nvSpPr>
        <p:spPr>
          <a:xfrm>
            <a:off x="480793" y="4377566"/>
            <a:ext cx="475488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emp.</a:t>
            </a:r>
            <a:r>
              <a:rPr lang="en-IN" dirty="0" err="1">
                <a:solidFill>
                  <a:schemeClr val="tx1"/>
                </a:solidFill>
              </a:rPr>
              <a:t>hasNext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E85ADBBA-9F68-427F-8171-C9C4CB4BCE37}"/>
              </a:ext>
            </a:extLst>
          </p:cNvPr>
          <p:cNvSpPr/>
          <p:nvPr/>
        </p:nvSpPr>
        <p:spPr>
          <a:xfrm>
            <a:off x="480793" y="401180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60671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Schema Validation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12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D1281-F16C-F06D-A0AF-55BC78D7A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9C16-EBDB-0850-B849-C6A0D3803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Schema Validation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validation]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993E6-43AA-DD7D-1D68-A682C942A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b="1" dirty="0"/>
              <a:t>Schema validation in MongoDB</a:t>
            </a:r>
            <a:r>
              <a:rPr lang="en-US" dirty="0"/>
              <a:t> is a feature that allows you to enforce rules on documents inserted or updated in a collection.</a:t>
            </a:r>
          </a:p>
          <a:p>
            <a:r>
              <a:rPr lang="en-US" dirty="0"/>
              <a:t>It ensures that documents follow a defined structure (schema).</a:t>
            </a:r>
          </a:p>
          <a:p>
            <a:r>
              <a:rPr lang="en-US" dirty="0"/>
              <a:t>Why Schema Validation is Needed?</a:t>
            </a:r>
          </a:p>
          <a:p>
            <a:pPr lvl="1"/>
            <a:r>
              <a:rPr lang="en-US" dirty="0"/>
              <a:t>MongoDB is a </a:t>
            </a:r>
            <a:r>
              <a:rPr lang="en-US" b="1" dirty="0"/>
              <a:t>NoSQL database</a:t>
            </a:r>
            <a:r>
              <a:rPr lang="en-US" dirty="0"/>
              <a:t>, which means:</a:t>
            </a:r>
          </a:p>
          <a:p>
            <a:pPr lvl="1"/>
            <a:r>
              <a:rPr lang="en-US" dirty="0"/>
              <a:t>It is schema-less by default.</a:t>
            </a:r>
          </a:p>
          <a:p>
            <a:pPr lvl="1"/>
            <a:r>
              <a:rPr lang="en-US" dirty="0"/>
              <a:t>Documents in the same collection can have different structures.</a:t>
            </a:r>
          </a:p>
        </p:txBody>
      </p:sp>
    </p:spTree>
    <p:extLst>
      <p:ext uri="{BB962C8B-B14F-4D97-AF65-F5344CB8AC3E}">
        <p14:creationId xmlns:p14="http://schemas.microsoft.com/office/powerpoint/2010/main" val="382871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485AE-4030-50FC-BC1A-5439C3F4D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4BAC-FAB2-9C2D-87CB-5161749B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Schema Validation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validation]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7A100-302B-4638-94B5-433852F40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IN" b="1" dirty="0"/>
              <a:t>Features of Schema Validation </a:t>
            </a:r>
            <a:r>
              <a:rPr lang="en-IN" dirty="0"/>
              <a:t>Schema validation can enforce:</a:t>
            </a:r>
          </a:p>
          <a:p>
            <a:pPr lvl="1"/>
            <a:r>
              <a:rPr lang="en-IN" dirty="0"/>
              <a:t>Data type (</a:t>
            </a:r>
            <a:r>
              <a:rPr lang="en-IN" dirty="0" err="1"/>
              <a:t>bsonType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Required fields</a:t>
            </a:r>
          </a:p>
          <a:p>
            <a:pPr lvl="1"/>
            <a:r>
              <a:rPr lang="en-IN" dirty="0"/>
              <a:t>Minimum / Maximum values</a:t>
            </a:r>
          </a:p>
          <a:p>
            <a:pPr lvl="1"/>
            <a:r>
              <a:rPr lang="en-IN" dirty="0"/>
              <a:t>String length (</a:t>
            </a:r>
            <a:r>
              <a:rPr lang="en-IN" dirty="0" err="1"/>
              <a:t>minLength</a:t>
            </a:r>
            <a:r>
              <a:rPr lang="en-IN" dirty="0"/>
              <a:t>, </a:t>
            </a:r>
            <a:r>
              <a:rPr lang="en-IN" dirty="0" err="1"/>
              <a:t>maxLength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Enum values</a:t>
            </a:r>
          </a:p>
          <a:p>
            <a:pPr lvl="1"/>
            <a:r>
              <a:rPr lang="en-IN" dirty="0"/>
              <a:t>Restrict extra fields (</a:t>
            </a:r>
            <a:r>
              <a:rPr lang="en-IN" dirty="0" err="1"/>
              <a:t>additionalProperties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Nested object structure</a:t>
            </a:r>
          </a:p>
          <a:p>
            <a:r>
              <a:rPr lang="en-IN" b="1" dirty="0"/>
              <a:t>Advantages:</a:t>
            </a:r>
          </a:p>
          <a:p>
            <a:pPr lvl="1" algn="l"/>
            <a:r>
              <a:rPr lang="en-IN" dirty="0"/>
              <a:t>Maintains data consistency</a:t>
            </a:r>
          </a:p>
          <a:p>
            <a:pPr lvl="1" algn="l"/>
            <a:r>
              <a:rPr lang="en-IN" dirty="0"/>
              <a:t>Prevents invalid data</a:t>
            </a:r>
          </a:p>
          <a:p>
            <a:pPr lvl="1" algn="l"/>
            <a:r>
              <a:rPr lang="en-IN" dirty="0"/>
              <a:t>Improves data integrity</a:t>
            </a:r>
          </a:p>
          <a:p>
            <a:pPr lvl="1" algn="l"/>
            <a:r>
              <a:rPr lang="en-IN" dirty="0"/>
              <a:t>Makes MongoDB behave more like SQL (structured)</a:t>
            </a:r>
          </a:p>
          <a:p>
            <a:pPr lvl="1"/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8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Schema Validation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validation]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8444784" cy="572309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8314631" y="1354643"/>
            <a:ext cx="3808094" cy="2413793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db.createCollection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r>
              <a:rPr lang="en-US" dirty="0">
                <a:solidFill>
                  <a:schemeClr val="tx1"/>
                </a:solidFill>
              </a:rPr>
              <a:t>    "</a:t>
            </a:r>
            <a:r>
              <a:rPr lang="en-US" dirty="0" err="1">
                <a:solidFill>
                  <a:schemeClr val="tx1"/>
                </a:solidFill>
              </a:rPr>
              <a:t>collection_name</a:t>
            </a:r>
            <a:r>
              <a:rPr lang="en-US" dirty="0">
                <a:solidFill>
                  <a:schemeClr val="tx1"/>
                </a:solidFill>
              </a:rPr>
              <a:t>", {</a:t>
            </a:r>
          </a:p>
          <a:p>
            <a:r>
              <a:rPr lang="en-US" dirty="0">
                <a:solidFill>
                  <a:schemeClr val="tx1"/>
                </a:solidFill>
              </a:rPr>
              <a:t>      validator: {</a:t>
            </a:r>
          </a:p>
          <a:p>
            <a:r>
              <a:rPr lang="en-US" dirty="0">
                <a:solidFill>
                  <a:schemeClr val="tx1"/>
                </a:solidFill>
              </a:rPr>
              <a:t>       	$</a:t>
            </a:r>
            <a:r>
              <a:rPr lang="en-US" dirty="0" err="1">
                <a:solidFill>
                  <a:schemeClr val="tx1"/>
                </a:solidFill>
              </a:rPr>
              <a:t>jsonSchema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datatype,</a:t>
            </a:r>
          </a:p>
          <a:p>
            <a:r>
              <a:rPr lang="en-US" dirty="0">
                <a:solidFill>
                  <a:schemeClr val="tx1"/>
                </a:solidFill>
              </a:rPr>
              <a:t>	required: [mandatory fields],</a:t>
            </a:r>
          </a:p>
          <a:p>
            <a:r>
              <a:rPr lang="en-US" dirty="0">
                <a:solidFill>
                  <a:schemeClr val="tx1"/>
                </a:solidFill>
              </a:rPr>
              <a:t>	properties: {Validation rules} </a:t>
            </a:r>
          </a:p>
          <a:p>
            <a:r>
              <a:rPr lang="en-US" dirty="0">
                <a:solidFill>
                  <a:schemeClr val="tx1"/>
                </a:solidFill>
              </a:rPr>
              <a:t>}})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8314631" y="98888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C86EE-E0E3-EF25-ED87-F50A41CDEDFB}"/>
              </a:ext>
            </a:extLst>
          </p:cNvPr>
          <p:cNvSpPr txBox="1"/>
          <p:nvPr/>
        </p:nvSpPr>
        <p:spPr>
          <a:xfrm>
            <a:off x="131180" y="988884"/>
            <a:ext cx="8126129" cy="549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Components of the Validator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$</a:t>
            </a:r>
            <a:r>
              <a:rPr lang="en-US" sz="2400" dirty="0" err="1"/>
              <a:t>jsonSchema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Each document must be a </a:t>
            </a:r>
            <a:r>
              <a:rPr lang="en-US" sz="2400" b="1" dirty="0"/>
              <a:t>JSON object</a:t>
            </a:r>
            <a:r>
              <a:rPr lang="en-US" sz="2400" dirty="0"/>
              <a:t>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 err="1"/>
              <a:t>bsonType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Specifies the data type of the field. Common types: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</a:pPr>
            <a:r>
              <a:rPr lang="en-US" sz="2400" dirty="0"/>
              <a:t>		string, int, double, bool, date, array, object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required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Defines mandatory fields.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properties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Lists validation rules for each field.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minimum / maximum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Sets constraints on numeric values.</a:t>
            </a:r>
          </a:p>
        </p:txBody>
      </p:sp>
    </p:spTree>
    <p:extLst>
      <p:ext uri="{BB962C8B-B14F-4D97-AF65-F5344CB8AC3E}">
        <p14:creationId xmlns:p14="http://schemas.microsoft.com/office/powerpoint/2010/main" val="265746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1D065-5D59-CDE4-A735-48F6DE152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AB67C-B44D-48BA-21EF-6FEE6FDA5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620FA-02A8-3255-497A-3176E0FA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Schema Validation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validation]</a:t>
            </a:r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F6E2B92-4956-41B6-32BC-A89FE13D3E94}"/>
              </a:ext>
            </a:extLst>
          </p:cNvPr>
          <p:cNvSpPr/>
          <p:nvPr/>
        </p:nvSpPr>
        <p:spPr>
          <a:xfrm>
            <a:off x="7065818" y="1354642"/>
            <a:ext cx="5056907" cy="5251442"/>
          </a:xfrm>
          <a:prstGeom prst="roundRect">
            <a:avLst>
              <a:gd name="adj" fmla="val 203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db.createCollection</a:t>
            </a:r>
            <a:r>
              <a:rPr lang="en-US" dirty="0">
                <a:solidFill>
                  <a:schemeClr val="tx1"/>
                </a:solidFill>
              </a:rPr>
              <a:t>("emp",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validator: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$</a:t>
            </a:r>
            <a:r>
              <a:rPr lang="en-US" dirty="0" err="1">
                <a:solidFill>
                  <a:schemeClr val="tx1"/>
                </a:solidFill>
              </a:rPr>
              <a:t>jsonSchema</a:t>
            </a:r>
            <a:r>
              <a:rPr lang="en-US" dirty="0">
                <a:solidFill>
                  <a:schemeClr val="tx1"/>
                </a:solidFill>
              </a:rPr>
              <a:t>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"object",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required: [ "</a:t>
            </a:r>
            <a:r>
              <a:rPr lang="en-US" dirty="0" err="1">
                <a:solidFill>
                  <a:schemeClr val="tx1"/>
                </a:solidFill>
              </a:rPr>
              <a:t>eid</a:t>
            </a:r>
            <a:r>
              <a:rPr lang="en-US" dirty="0">
                <a:solidFill>
                  <a:schemeClr val="tx1"/>
                </a:solidFill>
              </a:rPr>
              <a:t>", "</a:t>
            </a:r>
            <a:r>
              <a:rPr lang="en-US" dirty="0" err="1">
                <a:solidFill>
                  <a:schemeClr val="tx1"/>
                </a:solidFill>
              </a:rPr>
              <a:t>ename</a:t>
            </a:r>
            <a:r>
              <a:rPr lang="en-US" dirty="0">
                <a:solidFill>
                  <a:schemeClr val="tx1"/>
                </a:solidFill>
              </a:rPr>
              <a:t>" ],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properties: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eid</a:t>
            </a:r>
            <a:r>
              <a:rPr lang="en-US" dirty="0">
                <a:solidFill>
                  <a:schemeClr val="tx1"/>
                </a:solidFill>
              </a:rPr>
              <a:t>: {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"int", minimum:1, maximum:10},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ename</a:t>
            </a:r>
            <a:r>
              <a:rPr lang="en-US" dirty="0">
                <a:solidFill>
                  <a:schemeClr val="tx1"/>
                </a:solidFill>
              </a:rPr>
              <a:t>: {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"string", minLength:3, maxLength:30},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city: {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"string"},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status: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 err="1">
                <a:solidFill>
                  <a:schemeClr val="tx1"/>
                </a:solidFill>
              </a:rPr>
              <a:t>enum</a:t>
            </a:r>
            <a:r>
              <a:rPr lang="en-US" dirty="0">
                <a:solidFill>
                  <a:schemeClr val="tx1"/>
                </a:solidFill>
              </a:rPr>
              <a:t>: ["active", "inactive", "blocked"],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       description: "can only be one of the </a:t>
            </a:r>
            <a:r>
              <a:rPr lang="en-US" dirty="0" err="1">
                <a:solidFill>
                  <a:schemeClr val="tx1"/>
                </a:solidFill>
              </a:rPr>
              <a:t>enum</a:t>
            </a:r>
            <a:r>
              <a:rPr lang="en-US" dirty="0">
                <a:solidFill>
                  <a:schemeClr val="tx1"/>
                </a:solidFill>
              </a:rPr>
              <a:t>              values"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    }}}}})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060EDCA7-B9EE-755C-B098-0939F04A9B34}"/>
              </a:ext>
            </a:extLst>
          </p:cNvPr>
          <p:cNvSpPr/>
          <p:nvPr/>
        </p:nvSpPr>
        <p:spPr>
          <a:xfrm>
            <a:off x="7065817" y="988882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3CB35-3CA5-EDD2-2CC9-EADB4A5FFFCD}"/>
              </a:ext>
            </a:extLst>
          </p:cNvPr>
          <p:cNvSpPr txBox="1"/>
          <p:nvPr/>
        </p:nvSpPr>
        <p:spPr>
          <a:xfrm>
            <a:off x="131181" y="822624"/>
            <a:ext cx="6463584" cy="582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Components of the Validator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$</a:t>
            </a:r>
            <a:r>
              <a:rPr lang="en-US" sz="2400" dirty="0" err="1"/>
              <a:t>jsonSchema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Each document must be a </a:t>
            </a:r>
            <a:r>
              <a:rPr lang="en-US" sz="2400" b="1" dirty="0"/>
              <a:t>JSON object</a:t>
            </a:r>
            <a:r>
              <a:rPr lang="en-US" sz="2400" dirty="0"/>
              <a:t>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 err="1"/>
              <a:t>bsonType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Specifies the data type of the field. Common types: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</a:pPr>
            <a:r>
              <a:rPr lang="en-US" sz="2400" dirty="0"/>
              <a:t>		</a:t>
            </a:r>
            <a:r>
              <a:rPr lang="en-US" sz="2000" dirty="0"/>
              <a:t>string, int, double, bool, date, array, object</a:t>
            </a:r>
            <a:endParaRPr lang="en-US" sz="2400" dirty="0"/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required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Defines mandatory fields.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properties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Lists validation rules for each field.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minimum / maximum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Sets constraints on numeric values.</a:t>
            </a:r>
          </a:p>
        </p:txBody>
      </p:sp>
    </p:spTree>
    <p:extLst>
      <p:ext uri="{BB962C8B-B14F-4D97-AF65-F5344CB8AC3E}">
        <p14:creationId xmlns:p14="http://schemas.microsoft.com/office/powerpoint/2010/main" val="886739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4C2B-2362-9BF9-BC7D-700FD430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EAD54-BF55-FC24-388B-421F2900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E8DDF-5163-C4D2-3072-92E1079E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Schema Validation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validation]</a:t>
            </a:r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504D13D-C3E5-8708-4B20-77BCB9B238C4}"/>
              </a:ext>
            </a:extLst>
          </p:cNvPr>
          <p:cNvSpPr/>
          <p:nvPr/>
        </p:nvSpPr>
        <p:spPr>
          <a:xfrm>
            <a:off x="7065818" y="1354642"/>
            <a:ext cx="5056907" cy="4639914"/>
          </a:xfrm>
          <a:prstGeom prst="roundRect">
            <a:avLst>
              <a:gd name="adj" fmla="val 203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db.createCollection</a:t>
            </a:r>
            <a:r>
              <a:rPr lang="en-US" dirty="0">
                <a:solidFill>
                  <a:schemeClr val="tx1"/>
                </a:solidFill>
              </a:rPr>
              <a:t>("emp",{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validator: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$</a:t>
            </a:r>
            <a:r>
              <a:rPr lang="en-US" dirty="0" err="1">
                <a:solidFill>
                  <a:schemeClr val="tx1"/>
                </a:solidFill>
              </a:rPr>
              <a:t>jsonSchema</a:t>
            </a:r>
            <a:r>
              <a:rPr lang="en-US" dirty="0">
                <a:solidFill>
                  <a:schemeClr val="tx1"/>
                </a:solidFill>
              </a:rPr>
              <a:t>:{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"object",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required: [ "_id", "</a:t>
            </a:r>
            <a:r>
              <a:rPr lang="en-US" dirty="0" err="1">
                <a:solidFill>
                  <a:schemeClr val="tx1"/>
                </a:solidFill>
              </a:rPr>
              <a:t>ename</a:t>
            </a:r>
            <a:r>
              <a:rPr lang="en-US" dirty="0">
                <a:solidFill>
                  <a:schemeClr val="tx1"/>
                </a:solidFill>
              </a:rPr>
              <a:t>" ],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properties:{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_id: {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"int", minimum:1, maximum:10},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ename</a:t>
            </a:r>
            <a:r>
              <a:rPr lang="en-US" dirty="0">
                <a:solidFill>
                  <a:schemeClr val="tx1"/>
                </a:solidFill>
              </a:rPr>
              <a:t>: {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"string"}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},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additionalProperties</a:t>
            </a:r>
            <a:r>
              <a:rPr lang="en-US" dirty="0">
                <a:solidFill>
                  <a:schemeClr val="tx1"/>
                </a:solidFill>
              </a:rPr>
              <a:t>: false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}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}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AB35F1C8-402E-0DB4-FA77-1CF389C2070A}"/>
              </a:ext>
            </a:extLst>
          </p:cNvPr>
          <p:cNvSpPr/>
          <p:nvPr/>
        </p:nvSpPr>
        <p:spPr>
          <a:xfrm>
            <a:off x="7065817" y="988882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B0D0D-A062-86CB-D83B-ABF4BAF849BE}"/>
              </a:ext>
            </a:extLst>
          </p:cNvPr>
          <p:cNvSpPr txBox="1"/>
          <p:nvPr/>
        </p:nvSpPr>
        <p:spPr>
          <a:xfrm>
            <a:off x="131181" y="822624"/>
            <a:ext cx="6463584" cy="582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Components of the Validator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$</a:t>
            </a:r>
            <a:r>
              <a:rPr lang="en-US" sz="2400" dirty="0" err="1"/>
              <a:t>jsonSchema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Each document must be a </a:t>
            </a:r>
            <a:r>
              <a:rPr lang="en-US" sz="2400" b="1" dirty="0"/>
              <a:t>JSON object</a:t>
            </a:r>
            <a:r>
              <a:rPr lang="en-US" sz="2400" dirty="0"/>
              <a:t>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 err="1"/>
              <a:t>bsonType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Specifies the data type of the field. Common types: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</a:pPr>
            <a:r>
              <a:rPr lang="en-US" sz="2400" dirty="0"/>
              <a:t>		</a:t>
            </a:r>
            <a:r>
              <a:rPr lang="en-US" sz="2000" dirty="0"/>
              <a:t>string, int, double, bool, date, array, object</a:t>
            </a:r>
            <a:endParaRPr lang="en-US" sz="2400" dirty="0"/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required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Defines mandatory fields.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properties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Lists validation rules for each field.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minimum / maximum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Sets constraints on numeric values.</a:t>
            </a:r>
          </a:p>
        </p:txBody>
      </p:sp>
    </p:spTree>
    <p:extLst>
      <p:ext uri="{BB962C8B-B14F-4D97-AF65-F5344CB8AC3E}">
        <p14:creationId xmlns:p14="http://schemas.microsoft.com/office/powerpoint/2010/main" val="21863804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AA2D-3EED-F3E0-865A-409BC963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433A-BBAD-287E-8076-086505465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B3C2DD-89D0-F429-2911-32C800EE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Schema Validation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validation]</a:t>
            </a:r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4D721526-9F05-CFF3-6E07-5191C0B27E85}"/>
              </a:ext>
            </a:extLst>
          </p:cNvPr>
          <p:cNvSpPr/>
          <p:nvPr/>
        </p:nvSpPr>
        <p:spPr>
          <a:xfrm>
            <a:off x="7065818" y="1354642"/>
            <a:ext cx="5056907" cy="1790340"/>
          </a:xfrm>
          <a:prstGeom prst="roundRect">
            <a:avLst>
              <a:gd name="adj" fmla="val 203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db.createCollection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empdata</a:t>
            </a:r>
            <a:r>
              <a:rPr lang="en-US" dirty="0">
                <a:solidFill>
                  <a:schemeClr val="tx1"/>
                </a:solidFill>
              </a:rPr>
              <a:t>",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validator: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$</a:t>
            </a:r>
            <a:r>
              <a:rPr lang="en-US" dirty="0" err="1">
                <a:solidFill>
                  <a:schemeClr val="tx1"/>
                </a:solidFill>
              </a:rPr>
              <a:t>jsonSchema</a:t>
            </a:r>
            <a:r>
              <a:rPr lang="en-US" dirty="0">
                <a:solidFill>
                  <a:schemeClr val="tx1"/>
                </a:solidFill>
              </a:rPr>
              <a:t>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required: [ "</a:t>
            </a:r>
            <a:r>
              <a:rPr lang="en-US" dirty="0" err="1">
                <a:solidFill>
                  <a:schemeClr val="tx1"/>
                </a:solidFill>
              </a:rPr>
              <a:t>eid</a:t>
            </a:r>
            <a:r>
              <a:rPr lang="en-US" dirty="0">
                <a:solidFill>
                  <a:schemeClr val="tx1"/>
                </a:solidFill>
              </a:rPr>
              <a:t>", "</a:t>
            </a:r>
            <a:r>
              <a:rPr lang="en-US" dirty="0" err="1">
                <a:solidFill>
                  <a:schemeClr val="tx1"/>
                </a:solidFill>
              </a:rPr>
              <a:t>ename</a:t>
            </a:r>
            <a:r>
              <a:rPr lang="en-US" dirty="0">
                <a:solidFill>
                  <a:schemeClr val="tx1"/>
                </a:solidFill>
              </a:rPr>
              <a:t>" ]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}}})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5851A759-19CA-4E92-1EA6-11FF9FD3EA70}"/>
              </a:ext>
            </a:extLst>
          </p:cNvPr>
          <p:cNvSpPr/>
          <p:nvPr/>
        </p:nvSpPr>
        <p:spPr>
          <a:xfrm>
            <a:off x="7065817" y="988882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78872-0CA2-4904-AC9A-EAFB2AD27F28}"/>
              </a:ext>
            </a:extLst>
          </p:cNvPr>
          <p:cNvSpPr txBox="1"/>
          <p:nvPr/>
        </p:nvSpPr>
        <p:spPr>
          <a:xfrm>
            <a:off x="131181" y="822624"/>
            <a:ext cx="6463584" cy="582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Components of the Validator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$</a:t>
            </a:r>
            <a:r>
              <a:rPr lang="en-US" sz="2400" dirty="0" err="1"/>
              <a:t>jsonSchema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Each document must be a </a:t>
            </a:r>
            <a:r>
              <a:rPr lang="en-US" sz="2400" b="1" dirty="0"/>
              <a:t>JSON object</a:t>
            </a:r>
            <a:r>
              <a:rPr lang="en-US" sz="2400" dirty="0"/>
              <a:t>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 err="1"/>
              <a:t>bsonType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Specifies the data type of the field. Common types: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</a:pPr>
            <a:r>
              <a:rPr lang="en-US" sz="2400" dirty="0"/>
              <a:t>		</a:t>
            </a:r>
            <a:r>
              <a:rPr lang="en-US" sz="2000" dirty="0"/>
              <a:t>string, int, double, bool, date, array, object</a:t>
            </a:r>
            <a:endParaRPr lang="en-US" sz="2400" dirty="0"/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required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Defines mandatory fields.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properties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Lists validation rules for each field.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minimum / maximum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Sets constraints on numeric values.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9E519C0B-7926-6CBE-7D29-BFC0B777A167}"/>
              </a:ext>
            </a:extLst>
          </p:cNvPr>
          <p:cNvSpPr/>
          <p:nvPr/>
        </p:nvSpPr>
        <p:spPr>
          <a:xfrm>
            <a:off x="7034866" y="3297225"/>
            <a:ext cx="5056907" cy="491198"/>
          </a:xfrm>
          <a:prstGeom prst="roundRect">
            <a:avLst>
              <a:gd name="adj" fmla="val 203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err="1">
                <a:solidFill>
                  <a:schemeClr val="tx1"/>
                </a:solidFill>
              </a:rPr>
              <a:t>db.getCollectionInfos</a:t>
            </a:r>
            <a:r>
              <a:rPr lang="en-IN" dirty="0">
                <a:solidFill>
                  <a:schemeClr val="tx1"/>
                </a:solidFill>
              </a:rPr>
              <a:t>({</a:t>
            </a:r>
            <a:r>
              <a:rPr lang="en-IN" dirty="0" err="1">
                <a:solidFill>
                  <a:schemeClr val="tx1"/>
                </a:solidFill>
              </a:rPr>
              <a:t>name:"emp</a:t>
            </a:r>
            <a:r>
              <a:rPr lang="en-IN" dirty="0">
                <a:solidFill>
                  <a:schemeClr val="tx1"/>
                </a:solidFill>
              </a:rPr>
              <a:t>"})</a:t>
            </a:r>
          </a:p>
        </p:txBody>
      </p:sp>
    </p:spTree>
    <p:extLst>
      <p:ext uri="{BB962C8B-B14F-4D97-AF65-F5344CB8AC3E}">
        <p14:creationId xmlns:p14="http://schemas.microsoft.com/office/powerpoint/2010/main" val="296281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4840B-850D-397E-1967-7B567BFE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11115-D7E8-BD1E-6168-8F32A1CEE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D6B40-0AB5-5A72-E705-E9FCE8B6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Schema Validation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validation]</a:t>
            </a:r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0A29359-D041-4B11-2E07-20B2867B9580}"/>
              </a:ext>
            </a:extLst>
          </p:cNvPr>
          <p:cNvSpPr/>
          <p:nvPr/>
        </p:nvSpPr>
        <p:spPr>
          <a:xfrm>
            <a:off x="131180" y="1229204"/>
            <a:ext cx="8181547" cy="4090942"/>
          </a:xfrm>
          <a:prstGeom prst="roundRect">
            <a:avLst>
              <a:gd name="adj" fmla="val 203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err="1">
                <a:solidFill>
                  <a:schemeClr val="tx1"/>
                </a:solidFill>
              </a:rPr>
              <a:t>db.createCollection</a:t>
            </a:r>
            <a:r>
              <a:rPr lang="en-IN" dirty="0">
                <a:solidFill>
                  <a:schemeClr val="tx1"/>
                </a:solidFill>
              </a:rPr>
              <a:t>("emp", {</a:t>
            </a:r>
          </a:p>
          <a:p>
            <a:r>
              <a:rPr lang="en-IN" dirty="0">
                <a:solidFill>
                  <a:schemeClr val="tx1"/>
                </a:solidFill>
              </a:rPr>
              <a:t>  validator: {</a:t>
            </a:r>
          </a:p>
          <a:p>
            <a:r>
              <a:rPr lang="en-IN" dirty="0">
                <a:solidFill>
                  <a:schemeClr val="tx1"/>
                </a:solidFill>
              </a:rPr>
              <a:t>    $</a:t>
            </a:r>
            <a:r>
              <a:rPr lang="en-IN" dirty="0" err="1">
                <a:solidFill>
                  <a:schemeClr val="tx1"/>
                </a:solidFill>
              </a:rPr>
              <a:t>jsonSchema</a:t>
            </a:r>
            <a:r>
              <a:rPr lang="en-IN" dirty="0">
                <a:solidFill>
                  <a:schemeClr val="tx1"/>
                </a:solidFill>
              </a:rPr>
              <a:t>: {</a:t>
            </a:r>
          </a:p>
          <a:p>
            <a:r>
              <a:rPr lang="en-IN" dirty="0">
                <a:solidFill>
                  <a:schemeClr val="tx1"/>
                </a:solidFill>
              </a:rPr>
              <a:t>      </a:t>
            </a:r>
            <a:r>
              <a:rPr lang="en-IN" dirty="0" err="1">
                <a:solidFill>
                  <a:schemeClr val="tx1"/>
                </a:solidFill>
              </a:rPr>
              <a:t>bsonType</a:t>
            </a:r>
            <a:r>
              <a:rPr lang="en-IN" dirty="0">
                <a:solidFill>
                  <a:schemeClr val="tx1"/>
                </a:solidFill>
              </a:rPr>
              <a:t>: "object",</a:t>
            </a:r>
          </a:p>
          <a:p>
            <a:r>
              <a:rPr lang="en-IN" dirty="0">
                <a:solidFill>
                  <a:schemeClr val="tx1"/>
                </a:solidFill>
              </a:rPr>
              <a:t>      required: [ "_id", "name", "city", "SPI", "BL", "Pass" ],</a:t>
            </a:r>
          </a:p>
          <a:p>
            <a:r>
              <a:rPr lang="en-IN" dirty="0">
                <a:solidFill>
                  <a:schemeClr val="tx1"/>
                </a:solidFill>
              </a:rPr>
              <a:t>      properties: {</a:t>
            </a:r>
          </a:p>
          <a:p>
            <a:r>
              <a:rPr lang="en-IN" dirty="0">
                <a:solidFill>
                  <a:schemeClr val="tx1"/>
                </a:solidFill>
              </a:rPr>
              <a:t>        _id: {</a:t>
            </a:r>
            <a:r>
              <a:rPr lang="en-IN" dirty="0" err="1">
                <a:solidFill>
                  <a:schemeClr val="tx1"/>
                </a:solidFill>
              </a:rPr>
              <a:t>bsonType</a:t>
            </a:r>
            <a:r>
              <a:rPr lang="en-IN" dirty="0">
                <a:solidFill>
                  <a:schemeClr val="tx1"/>
                </a:solidFill>
              </a:rPr>
              <a:t>: "int", minimum:1, maximum:50},</a:t>
            </a:r>
          </a:p>
          <a:p>
            <a:r>
              <a:rPr lang="en-IN" dirty="0">
                <a:solidFill>
                  <a:schemeClr val="tx1"/>
                </a:solidFill>
              </a:rPr>
              <a:t>        name: {</a:t>
            </a:r>
            <a:r>
              <a:rPr lang="en-IN" dirty="0" err="1">
                <a:solidFill>
                  <a:schemeClr val="tx1"/>
                </a:solidFill>
              </a:rPr>
              <a:t>bsonType</a:t>
            </a:r>
            <a:r>
              <a:rPr lang="en-IN" dirty="0">
                <a:solidFill>
                  <a:schemeClr val="tx1"/>
                </a:solidFill>
              </a:rPr>
              <a:t>: "string", minLength:3, maxLength:15},</a:t>
            </a:r>
          </a:p>
          <a:p>
            <a:r>
              <a:rPr lang="en-IN" dirty="0">
                <a:solidFill>
                  <a:schemeClr val="tx1"/>
                </a:solidFill>
              </a:rPr>
              <a:t>        city: {</a:t>
            </a:r>
            <a:r>
              <a:rPr lang="en-IN" dirty="0" err="1">
                <a:solidFill>
                  <a:schemeClr val="tx1"/>
                </a:solidFill>
              </a:rPr>
              <a:t>bsonType</a:t>
            </a:r>
            <a:r>
              <a:rPr lang="en-IN" dirty="0">
                <a:solidFill>
                  <a:schemeClr val="tx1"/>
                </a:solidFill>
              </a:rPr>
              <a:t>: "string"},</a:t>
            </a:r>
          </a:p>
          <a:p>
            <a:r>
              <a:rPr lang="en-IN" dirty="0">
                <a:solidFill>
                  <a:schemeClr val="tx1"/>
                </a:solidFill>
              </a:rPr>
              <a:t>        SPI: {</a:t>
            </a:r>
            <a:r>
              <a:rPr lang="en-IN" dirty="0" err="1">
                <a:solidFill>
                  <a:schemeClr val="tx1"/>
                </a:solidFill>
              </a:rPr>
              <a:t>bsonType</a:t>
            </a:r>
            <a:r>
              <a:rPr lang="en-IN" dirty="0">
                <a:solidFill>
                  <a:schemeClr val="tx1"/>
                </a:solidFill>
              </a:rPr>
              <a:t>: "double", minimum:1, maximum:10},</a:t>
            </a:r>
          </a:p>
          <a:p>
            <a:r>
              <a:rPr lang="en-IN" dirty="0">
                <a:solidFill>
                  <a:schemeClr val="tx1"/>
                </a:solidFill>
              </a:rPr>
              <a:t>        BL: {</a:t>
            </a:r>
            <a:r>
              <a:rPr lang="en-IN" dirty="0" err="1">
                <a:solidFill>
                  <a:schemeClr val="tx1"/>
                </a:solidFill>
              </a:rPr>
              <a:t>bsonType</a:t>
            </a:r>
            <a:r>
              <a:rPr lang="en-IN" dirty="0">
                <a:solidFill>
                  <a:schemeClr val="tx1"/>
                </a:solidFill>
              </a:rPr>
              <a:t>: "int", minimum:0},</a:t>
            </a:r>
          </a:p>
          <a:p>
            <a:r>
              <a:rPr lang="en-IN" dirty="0">
                <a:solidFill>
                  <a:schemeClr val="tx1"/>
                </a:solidFill>
              </a:rPr>
              <a:t>        Pass: {</a:t>
            </a:r>
            <a:r>
              <a:rPr lang="en-IN" dirty="0" err="1">
                <a:solidFill>
                  <a:schemeClr val="tx1"/>
                </a:solidFill>
              </a:rPr>
              <a:t>bsonType</a:t>
            </a:r>
            <a:r>
              <a:rPr lang="en-IN" dirty="0">
                <a:solidFill>
                  <a:schemeClr val="tx1"/>
                </a:solidFill>
              </a:rPr>
              <a:t>: "bool"}},</a:t>
            </a:r>
          </a:p>
          <a:p>
            <a:r>
              <a:rPr lang="en-IN" dirty="0">
                <a:solidFill>
                  <a:schemeClr val="tx1"/>
                </a:solidFill>
              </a:rPr>
              <a:t>        </a:t>
            </a:r>
            <a:r>
              <a:rPr lang="en-IN" dirty="0" err="1">
                <a:solidFill>
                  <a:schemeClr val="tx1"/>
                </a:solidFill>
              </a:rPr>
              <a:t>additionalProperties</a:t>
            </a:r>
            <a:r>
              <a:rPr lang="en-IN" dirty="0">
                <a:solidFill>
                  <a:schemeClr val="tx1"/>
                </a:solidFill>
              </a:rPr>
              <a:t>: false</a:t>
            </a:r>
          </a:p>
          <a:p>
            <a:r>
              <a:rPr lang="en-IN" dirty="0">
                <a:solidFill>
                  <a:schemeClr val="tx1"/>
                </a:solidFill>
              </a:rPr>
              <a:t>      }}})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2F960F08-9ED8-D4C0-01F4-DD4EC52F4C16}"/>
              </a:ext>
            </a:extLst>
          </p:cNvPr>
          <p:cNvSpPr/>
          <p:nvPr/>
        </p:nvSpPr>
        <p:spPr>
          <a:xfrm>
            <a:off x="131179" y="86344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458638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Embedded or Nested Document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6391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Embedded or Nested Document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Embedded document or nested documents are those types of documents which contain a document inside another document. </a:t>
            </a:r>
          </a:p>
          <a:p>
            <a:r>
              <a:rPr lang="en-US" dirty="0"/>
              <a:t>Or in other words, when a collection has a document, this document contains another document, another document contains another sub-document, and so on, then such types of documents are known as embedded/nested documents. </a:t>
            </a:r>
          </a:p>
          <a:p>
            <a:r>
              <a:rPr lang="en-US" dirty="0"/>
              <a:t> Notes – </a:t>
            </a:r>
          </a:p>
          <a:p>
            <a:pPr lvl="1"/>
            <a:r>
              <a:rPr lang="en-US" dirty="0"/>
              <a:t>In MongoDB, you can only nest document up to 100 levels.</a:t>
            </a:r>
          </a:p>
          <a:p>
            <a:pPr lvl="1"/>
            <a:r>
              <a:rPr lang="en-US" dirty="0"/>
              <a:t>The overall document size must not exceed 16 MB.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60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Embedded or Nested Document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MongoDB, we can easily embed a document inside another document. </a:t>
            </a:r>
          </a:p>
          <a:p>
            <a:r>
              <a:rPr lang="en-US" dirty="0"/>
              <a:t>As we know that in the mongo shell, documents are represented using curly braces ( {} ) and inside these curly braces we have field-value pairs. </a:t>
            </a:r>
          </a:p>
          <a:p>
            <a:r>
              <a:rPr lang="en-US" dirty="0"/>
              <a:t>Now inside these fields, we can embed another document using curly braces {} and this document may contain field-value pairs or another sub-document.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Query on Embedded/Nested Documents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63F2B97D-3901-5806-0A6D-C06ADB81CF7F}"/>
              </a:ext>
            </a:extLst>
          </p:cNvPr>
          <p:cNvSpPr/>
          <p:nvPr/>
        </p:nvSpPr>
        <p:spPr>
          <a:xfrm>
            <a:off x="521013" y="3328915"/>
            <a:ext cx="4572000" cy="16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....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field: {field1: value1, field2: value2}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....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6495F0AB-2361-B501-0BC7-B412470A49F4}"/>
              </a:ext>
            </a:extLst>
          </p:cNvPr>
          <p:cNvSpPr/>
          <p:nvPr/>
        </p:nvSpPr>
        <p:spPr>
          <a:xfrm>
            <a:off x="521013" y="296315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599A3441-5861-3807-7186-BF43F589A8AA}"/>
              </a:ext>
            </a:extLst>
          </p:cNvPr>
          <p:cNvSpPr/>
          <p:nvPr/>
        </p:nvSpPr>
        <p:spPr>
          <a:xfrm>
            <a:off x="6396684" y="3328915"/>
            <a:ext cx="4754880" cy="16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db.student.insertOne</a:t>
            </a:r>
            <a:r>
              <a:rPr lang="en-US" dirty="0">
                <a:solidFill>
                  <a:schemeClr val="tx1"/>
                </a:solidFill>
              </a:rPr>
              <a:t>({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Name: {</a:t>
            </a:r>
            <a:r>
              <a:rPr lang="en-US" dirty="0" err="1">
                <a:solidFill>
                  <a:schemeClr val="tx1"/>
                </a:solidFill>
              </a:rPr>
              <a:t>Fname</a:t>
            </a:r>
            <a:r>
              <a:rPr lang="en-US" dirty="0">
                <a:solidFill>
                  <a:schemeClr val="tx1"/>
                </a:solidFill>
              </a:rPr>
              <a:t>:'Raj’, </a:t>
            </a:r>
            <a:r>
              <a:rPr lang="en-US" dirty="0" err="1">
                <a:solidFill>
                  <a:schemeClr val="tx1"/>
                </a:solidFill>
              </a:rPr>
              <a:t>Lname</a:t>
            </a:r>
            <a:r>
              <a:rPr lang="en-US" dirty="0">
                <a:solidFill>
                  <a:schemeClr val="tx1"/>
                </a:solidFill>
              </a:rPr>
              <a:t>:'Mehta’}, </a:t>
            </a:r>
          </a:p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City:'Rajkot</a:t>
            </a:r>
            <a:r>
              <a:rPr lang="en-US" dirty="0">
                <a:solidFill>
                  <a:schemeClr val="tx1"/>
                </a:solidFill>
              </a:rPr>
              <a:t>'})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FCF498E4-625F-6470-A0EC-179FF8318D36}"/>
              </a:ext>
            </a:extLst>
          </p:cNvPr>
          <p:cNvSpPr/>
          <p:nvPr/>
        </p:nvSpPr>
        <p:spPr>
          <a:xfrm>
            <a:off x="6396684" y="296315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FB1A51CD-AE15-2116-DC77-57509C187BA1}"/>
              </a:ext>
            </a:extLst>
          </p:cNvPr>
          <p:cNvSpPr/>
          <p:nvPr/>
        </p:nvSpPr>
        <p:spPr>
          <a:xfrm>
            <a:off x="497501" y="6013862"/>
            <a:ext cx="475488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db.student.find</a:t>
            </a:r>
            <a:r>
              <a:rPr lang="en-US" dirty="0">
                <a:solidFill>
                  <a:schemeClr val="tx1"/>
                </a:solidFill>
              </a:rPr>
              <a:t>({"</a:t>
            </a:r>
            <a:r>
              <a:rPr lang="en-US" dirty="0" err="1">
                <a:solidFill>
                  <a:schemeClr val="tx1"/>
                </a:solidFill>
              </a:rPr>
              <a:t>Name.Fname</a:t>
            </a:r>
            <a:r>
              <a:rPr lang="en-US" dirty="0">
                <a:solidFill>
                  <a:schemeClr val="tx1"/>
                </a:solidFill>
              </a:rPr>
              <a:t>": ‘Raj'})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5D654679-5D9C-271D-06C7-282686437330}"/>
              </a:ext>
            </a:extLst>
          </p:cNvPr>
          <p:cNvSpPr/>
          <p:nvPr/>
        </p:nvSpPr>
        <p:spPr>
          <a:xfrm>
            <a:off x="497501" y="5648102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96298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Create user &amp; add role in MongoDB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257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user &amp; add role in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MongoDB, we are allowed to create new users for the database. </a:t>
            </a:r>
          </a:p>
          <a:p>
            <a:r>
              <a:rPr lang="en-US" dirty="0"/>
              <a:t>Every MongoDB user only accesses the data that is required for their role. </a:t>
            </a:r>
          </a:p>
          <a:p>
            <a:r>
              <a:rPr lang="en-US" dirty="0"/>
              <a:t>A role in MongoDB grants privileges to perform some set of operations on a given resource. </a:t>
            </a:r>
          </a:p>
          <a:p>
            <a:r>
              <a:rPr lang="en-US" dirty="0"/>
              <a:t>In MongoDB, users are created using </a:t>
            </a:r>
            <a:r>
              <a:rPr lang="en-US" dirty="0" err="1"/>
              <a:t>createUser</a:t>
            </a:r>
            <a:r>
              <a:rPr lang="en-US" dirty="0"/>
              <a:t>() method. </a:t>
            </a:r>
          </a:p>
          <a:p>
            <a:r>
              <a:rPr lang="en-US" dirty="0"/>
              <a:t>This method creates a new user for the database, if the specified user is already present in the database then this method will return an error.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8077CA8-AEE1-2570-E714-756A3ACF2456}"/>
              </a:ext>
            </a:extLst>
          </p:cNvPr>
          <p:cNvSpPr/>
          <p:nvPr/>
        </p:nvSpPr>
        <p:spPr>
          <a:xfrm>
            <a:off x="521013" y="3841541"/>
            <a:ext cx="4572000" cy="21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db.createUser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{	user: “username",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pwd</a:t>
            </a:r>
            <a:r>
              <a:rPr lang="en-US" dirty="0">
                <a:solidFill>
                  <a:schemeClr val="tx1"/>
                </a:solidFill>
              </a:rPr>
              <a:t>: “password",</a:t>
            </a:r>
          </a:p>
          <a:p>
            <a:pPr>
              <a:lnSpc>
                <a:spcPts val="24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roles:[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{role: “roles" , 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:“database"}]})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0E55286B-BA57-CC50-A285-C967714AF28A}"/>
              </a:ext>
            </a:extLst>
          </p:cNvPr>
          <p:cNvSpPr/>
          <p:nvPr/>
        </p:nvSpPr>
        <p:spPr>
          <a:xfrm>
            <a:off x="521013" y="347578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BA500F4D-E530-1163-C396-1C5FF16BF5CD}"/>
              </a:ext>
            </a:extLst>
          </p:cNvPr>
          <p:cNvSpPr/>
          <p:nvPr/>
        </p:nvSpPr>
        <p:spPr>
          <a:xfrm>
            <a:off x="6188866" y="3841541"/>
            <a:ext cx="4754880" cy="21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db.createUser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{	user: "firoz",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pwd</a:t>
            </a:r>
            <a:r>
              <a:rPr lang="en-US" dirty="0">
                <a:solidFill>
                  <a:schemeClr val="tx1"/>
                </a:solidFill>
              </a:rPr>
              <a:t>: "baba",</a:t>
            </a:r>
          </a:p>
          <a:p>
            <a:pPr>
              <a:lnSpc>
                <a:spcPts val="24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roles:[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{role: "read" , 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:"test"}]})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84909F6-F096-181E-A56D-44678C4CD2DD}"/>
              </a:ext>
            </a:extLst>
          </p:cNvPr>
          <p:cNvSpPr/>
          <p:nvPr/>
        </p:nvSpPr>
        <p:spPr>
          <a:xfrm>
            <a:off x="6188866" y="347578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40693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the user &amp; drop/delete user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To list all users, use </a:t>
            </a:r>
            <a:r>
              <a:rPr lang="en-US" dirty="0" err="1"/>
              <a:t>mongosh</a:t>
            </a:r>
            <a:r>
              <a:rPr lang="en-US" dirty="0"/>
              <a:t> to query the </a:t>
            </a:r>
            <a:r>
              <a:rPr lang="en-US" dirty="0" err="1"/>
              <a:t>system.users</a:t>
            </a:r>
            <a:r>
              <a:rPr lang="en-US" dirty="0"/>
              <a:t> collection.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To remove a user from a MongoDB database use </a:t>
            </a:r>
            <a:r>
              <a:rPr lang="en-US" dirty="0" err="1"/>
              <a:t>dropUser</a:t>
            </a:r>
            <a:r>
              <a:rPr lang="en-US" dirty="0"/>
              <a:t> method.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8077CA8-AEE1-2570-E714-756A3ACF2456}"/>
              </a:ext>
            </a:extLst>
          </p:cNvPr>
          <p:cNvSpPr/>
          <p:nvPr/>
        </p:nvSpPr>
        <p:spPr>
          <a:xfrm>
            <a:off x="521013" y="1735643"/>
            <a:ext cx="255600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use admin</a:t>
            </a:r>
          </a:p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db.system.users.find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0E55286B-BA57-CC50-A285-C967714AF28A}"/>
              </a:ext>
            </a:extLst>
          </p:cNvPr>
          <p:cNvSpPr/>
          <p:nvPr/>
        </p:nvSpPr>
        <p:spPr>
          <a:xfrm>
            <a:off x="521013" y="13698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BA500F4D-E530-1163-C396-1C5FF16BF5CD}"/>
              </a:ext>
            </a:extLst>
          </p:cNvPr>
          <p:cNvSpPr/>
          <p:nvPr/>
        </p:nvSpPr>
        <p:spPr>
          <a:xfrm>
            <a:off x="521013" y="3551946"/>
            <a:ext cx="475488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db.dropUser</a:t>
            </a:r>
            <a:r>
              <a:rPr lang="en-US" dirty="0">
                <a:solidFill>
                  <a:schemeClr val="tx1"/>
                </a:solidFill>
              </a:rPr>
              <a:t>(“username”)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84909F6-F096-181E-A56D-44678C4CD2DD}"/>
              </a:ext>
            </a:extLst>
          </p:cNvPr>
          <p:cNvSpPr/>
          <p:nvPr/>
        </p:nvSpPr>
        <p:spPr>
          <a:xfrm>
            <a:off x="521013" y="318618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B7F0C637-5095-5ED2-4B82-B6DBB3CF42A6}"/>
              </a:ext>
            </a:extLst>
          </p:cNvPr>
          <p:cNvSpPr/>
          <p:nvPr/>
        </p:nvSpPr>
        <p:spPr>
          <a:xfrm>
            <a:off x="4040068" y="1735643"/>
            <a:ext cx="457200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show users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C7DF7A3A-F651-F2F6-6FEC-AB0384E0337B}"/>
              </a:ext>
            </a:extLst>
          </p:cNvPr>
          <p:cNvSpPr/>
          <p:nvPr/>
        </p:nvSpPr>
        <p:spPr>
          <a:xfrm>
            <a:off x="4040068" y="13698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158115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Backup and Recovery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8 </a:t>
            </a:r>
          </a:p>
        </p:txBody>
      </p:sp>
    </p:spTree>
    <p:extLst>
      <p:ext uri="{BB962C8B-B14F-4D97-AF65-F5344CB8AC3E}">
        <p14:creationId xmlns:p14="http://schemas.microsoft.com/office/powerpoint/2010/main" val="24694009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MongoDB</a:t>
            </a:r>
            <a:r>
              <a:rPr lang="en-US" dirty="0"/>
              <a:t>, backup and restore are usually done using two command-line tools:</a:t>
            </a:r>
          </a:p>
          <a:p>
            <a:pPr lvl="1"/>
            <a:r>
              <a:rPr lang="en-US" b="1" dirty="0" err="1"/>
              <a:t>mongodump</a:t>
            </a:r>
            <a:r>
              <a:rPr lang="en-US" dirty="0"/>
              <a:t> → Used to </a:t>
            </a:r>
            <a:r>
              <a:rPr lang="en-US" b="1" dirty="0"/>
              <a:t>take backup</a:t>
            </a:r>
            <a:endParaRPr lang="en-US" dirty="0"/>
          </a:p>
          <a:p>
            <a:pPr lvl="1"/>
            <a:r>
              <a:rPr lang="en-US" b="1" dirty="0" err="1"/>
              <a:t>mongorestore</a:t>
            </a:r>
            <a:r>
              <a:rPr lang="en-US" dirty="0"/>
              <a:t> → Used to </a:t>
            </a:r>
            <a:r>
              <a:rPr lang="en-US" b="1" dirty="0"/>
              <a:t>restore backup</a:t>
            </a:r>
          </a:p>
          <a:p>
            <a:r>
              <a:rPr lang="en-US" dirty="0"/>
              <a:t>Taking Backup in MongoDB (</a:t>
            </a:r>
            <a:r>
              <a:rPr lang="en-US" dirty="0" err="1"/>
              <a:t>mongodump</a:t>
            </a:r>
            <a:r>
              <a:rPr lang="en-US" dirty="0"/>
              <a:t>)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pPr lvl="1"/>
            <a:endParaRPr lang="en-US" dirty="0">
              <a:solidFill>
                <a:schemeClr val="accent6"/>
              </a:solidFill>
            </a:endParaRPr>
          </a:p>
          <a:p>
            <a:pPr lvl="1"/>
            <a:r>
              <a:rPr lang="en-US" dirty="0"/>
              <a:t>-d → database	OR 	 --</a:t>
            </a:r>
            <a:r>
              <a:rPr lang="en-US" dirty="0" err="1"/>
              <a:t>db</a:t>
            </a:r>
            <a:r>
              <a:rPr lang="en-US" dirty="0"/>
              <a:t> → database</a:t>
            </a:r>
          </a:p>
          <a:p>
            <a:pPr lvl="1"/>
            <a:r>
              <a:rPr lang="en-US" dirty="0"/>
              <a:t>-c → collection	OR	--collection → collection</a:t>
            </a:r>
          </a:p>
          <a:p>
            <a:pPr lvl="1"/>
            <a:r>
              <a:rPr lang="en-US" dirty="0"/>
              <a:t>--out → Location where backup will be stored</a:t>
            </a:r>
          </a:p>
          <a:p>
            <a:pPr lvl="1"/>
            <a:endParaRPr lang="en-US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A7505DC-3CA9-168F-8546-D48C9B32309E}"/>
              </a:ext>
            </a:extLst>
          </p:cNvPr>
          <p:cNvSpPr/>
          <p:nvPr/>
        </p:nvSpPr>
        <p:spPr>
          <a:xfrm>
            <a:off x="479449" y="2816297"/>
            <a:ext cx="777600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mongodump</a:t>
            </a:r>
            <a:r>
              <a:rPr lang="en-US" dirty="0">
                <a:solidFill>
                  <a:schemeClr val="tx1"/>
                </a:solidFill>
              </a:rPr>
              <a:t> -d </a:t>
            </a:r>
            <a:r>
              <a:rPr lang="en-US" dirty="0" err="1">
                <a:solidFill>
                  <a:schemeClr val="tx1"/>
                </a:solidFill>
              </a:rPr>
              <a:t>databaseName</a:t>
            </a:r>
            <a:r>
              <a:rPr lang="en-US" dirty="0">
                <a:solidFill>
                  <a:schemeClr val="tx1"/>
                </a:solidFill>
              </a:rPr>
              <a:t> -c </a:t>
            </a:r>
            <a:r>
              <a:rPr lang="en-US" dirty="0" err="1">
                <a:solidFill>
                  <a:schemeClr val="tx1"/>
                </a:solidFill>
              </a:rPr>
              <a:t>collectionName</a:t>
            </a:r>
            <a:r>
              <a:rPr lang="en-US" dirty="0">
                <a:solidFill>
                  <a:schemeClr val="tx1"/>
                </a:solidFill>
              </a:rPr>
              <a:t> --out c:\backup	OR</a:t>
            </a:r>
          </a:p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mongodump</a:t>
            </a:r>
            <a:r>
              <a:rPr lang="en-US" dirty="0">
                <a:solidFill>
                  <a:schemeClr val="tx1"/>
                </a:solidFill>
              </a:rPr>
              <a:t> --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databaseName</a:t>
            </a:r>
            <a:r>
              <a:rPr lang="en-US" dirty="0">
                <a:solidFill>
                  <a:schemeClr val="tx1"/>
                </a:solidFill>
              </a:rPr>
              <a:t> --collection </a:t>
            </a:r>
            <a:r>
              <a:rPr lang="en-US" dirty="0" err="1">
                <a:solidFill>
                  <a:schemeClr val="tx1"/>
                </a:solidFill>
              </a:rPr>
              <a:t>collectionName</a:t>
            </a:r>
            <a:r>
              <a:rPr lang="en-US" dirty="0">
                <a:solidFill>
                  <a:schemeClr val="tx1"/>
                </a:solidFill>
              </a:rPr>
              <a:t> --out c:\backup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FF2EB6FA-5871-D4AE-DF15-0BA607397EE6}"/>
              </a:ext>
            </a:extLst>
          </p:cNvPr>
          <p:cNvSpPr/>
          <p:nvPr/>
        </p:nvSpPr>
        <p:spPr>
          <a:xfrm>
            <a:off x="479449" y="245053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68119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0C761-1000-7257-5016-4154FCD9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A7F3-6ED1-A01C-FF4F-732BA139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Backup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BE7A0-DCE3-7485-A6DD-B66C0ACB2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Taking Backup in MongoDB (</a:t>
            </a:r>
            <a:r>
              <a:rPr lang="en-US" dirty="0" err="1"/>
              <a:t>mongodump</a:t>
            </a:r>
            <a:r>
              <a:rPr lang="en-US" dirty="0"/>
              <a:t>)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pPr lvl="1"/>
            <a:r>
              <a:rPr lang="en-IN" dirty="0"/>
              <a:t>--</a:t>
            </a:r>
            <a:r>
              <a:rPr lang="en-IN" dirty="0" err="1"/>
              <a:t>db</a:t>
            </a:r>
            <a:r>
              <a:rPr lang="en-IN" dirty="0"/>
              <a:t> college → Database name</a:t>
            </a:r>
            <a:endParaRPr lang="en-US" dirty="0"/>
          </a:p>
          <a:p>
            <a:pPr lvl="1"/>
            <a:r>
              <a:rPr lang="en-US" dirty="0"/>
              <a:t>--collection student → Collection name</a:t>
            </a:r>
          </a:p>
          <a:p>
            <a:pPr lvl="1"/>
            <a:r>
              <a:rPr lang="en-US" dirty="0"/>
              <a:t>--out D:\backup → Location where backup will be stored (MongoDB automatically creates a dump folder)</a:t>
            </a:r>
          </a:p>
          <a:p>
            <a:pPr lvl="1"/>
            <a:r>
              <a:rPr lang="en-US" dirty="0"/>
              <a:t>After backup, folder structure will look like: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.</a:t>
            </a:r>
            <a:r>
              <a:rPr lang="en-US" dirty="0" err="1"/>
              <a:t>bson</a:t>
            </a:r>
            <a:r>
              <a:rPr lang="en-US" dirty="0"/>
              <a:t> → Actual data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json</a:t>
            </a:r>
            <a:r>
              <a:rPr lang="en-US" dirty="0"/>
              <a:t> → Collection metadata (indexes etc.)</a:t>
            </a: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972C4D58-CB2C-E0C1-2377-C4287D0CA542}"/>
              </a:ext>
            </a:extLst>
          </p:cNvPr>
          <p:cNvSpPr/>
          <p:nvPr/>
        </p:nvSpPr>
        <p:spPr>
          <a:xfrm>
            <a:off x="479449" y="1631927"/>
            <a:ext cx="7776000" cy="3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mongodump</a:t>
            </a:r>
            <a:r>
              <a:rPr lang="en-US" dirty="0">
                <a:solidFill>
                  <a:schemeClr val="tx1"/>
                </a:solidFill>
              </a:rPr>
              <a:t> --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 college --collection student --out c:\backup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7F2F5DF4-681F-B085-3AA2-37F29489ECE2}"/>
              </a:ext>
            </a:extLst>
          </p:cNvPr>
          <p:cNvSpPr/>
          <p:nvPr/>
        </p:nvSpPr>
        <p:spPr>
          <a:xfrm>
            <a:off x="479449" y="126616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1F5D8BB6-ACC4-8CA4-3FC6-6695B3F1B86B}"/>
              </a:ext>
            </a:extLst>
          </p:cNvPr>
          <p:cNvSpPr/>
          <p:nvPr/>
        </p:nvSpPr>
        <p:spPr>
          <a:xfrm>
            <a:off x="982369" y="3502968"/>
            <a:ext cx="7776000" cy="188645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C:\backup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   └── college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        ├── </a:t>
            </a:r>
            <a:r>
              <a:rPr lang="en-US" dirty="0" err="1">
                <a:solidFill>
                  <a:schemeClr val="tx1"/>
                </a:solidFill>
              </a:rPr>
              <a:t>students.bson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        ├── </a:t>
            </a:r>
            <a:r>
              <a:rPr lang="en-US" dirty="0" err="1">
                <a:solidFill>
                  <a:schemeClr val="tx1"/>
                </a:solidFill>
              </a:rPr>
              <a:t>students.metadata.json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        ├── </a:t>
            </a:r>
            <a:r>
              <a:rPr lang="en-US" dirty="0" err="1">
                <a:solidFill>
                  <a:schemeClr val="tx1"/>
                </a:solidFill>
              </a:rPr>
              <a:t>faculty.bson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61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C6192-99F8-8A57-04CA-86C53D77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EEA-0116-2EF8-ABFD-EADD852F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Restore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DCBE0-2AC2-20C3-33A7-C28912D6D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MongoDB</a:t>
            </a:r>
            <a:r>
              <a:rPr lang="en-US" dirty="0"/>
              <a:t>, backup and restore are usually done using two command-line tools:</a:t>
            </a:r>
          </a:p>
          <a:p>
            <a:pPr lvl="1"/>
            <a:r>
              <a:rPr lang="en-US" b="1" dirty="0" err="1"/>
              <a:t>mongodump</a:t>
            </a:r>
            <a:r>
              <a:rPr lang="en-US" dirty="0"/>
              <a:t> → Used to </a:t>
            </a:r>
            <a:r>
              <a:rPr lang="en-US" b="1" dirty="0"/>
              <a:t>take backup</a:t>
            </a:r>
            <a:endParaRPr lang="en-US" dirty="0"/>
          </a:p>
          <a:p>
            <a:pPr lvl="1"/>
            <a:r>
              <a:rPr lang="en-US" b="1" dirty="0" err="1"/>
              <a:t>mongorestore</a:t>
            </a:r>
            <a:r>
              <a:rPr lang="en-US" dirty="0"/>
              <a:t> → Used to </a:t>
            </a:r>
            <a:r>
              <a:rPr lang="en-US" b="1" dirty="0"/>
              <a:t>restore backup</a:t>
            </a:r>
          </a:p>
          <a:p>
            <a:r>
              <a:rPr lang="en-US" dirty="0"/>
              <a:t>Taking Backup in MongoDB (</a:t>
            </a:r>
            <a:r>
              <a:rPr lang="en-US" dirty="0" err="1"/>
              <a:t>mongodump</a:t>
            </a:r>
            <a:r>
              <a:rPr lang="en-US" dirty="0"/>
              <a:t>)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pPr lvl="1"/>
            <a:endParaRPr lang="en-US" dirty="0">
              <a:solidFill>
                <a:schemeClr val="accent6"/>
              </a:solidFill>
            </a:endParaRPr>
          </a:p>
          <a:p>
            <a:pPr lvl="1"/>
            <a:r>
              <a:rPr lang="en-US" dirty="0"/>
              <a:t>-d → database	OR 	 --</a:t>
            </a:r>
            <a:r>
              <a:rPr lang="en-US" dirty="0" err="1"/>
              <a:t>db</a:t>
            </a:r>
            <a:r>
              <a:rPr lang="en-US" dirty="0"/>
              <a:t> → database</a:t>
            </a:r>
          </a:p>
          <a:p>
            <a:pPr lvl="1"/>
            <a:r>
              <a:rPr lang="en-US" dirty="0"/>
              <a:t>-c → collection	OR	--collection → collection</a:t>
            </a:r>
          </a:p>
          <a:p>
            <a:pPr lvl="1"/>
            <a:r>
              <a:rPr lang="en-US" dirty="0"/>
              <a:t>path → Location from where backup will be restored</a:t>
            </a:r>
          </a:p>
          <a:p>
            <a:pPr lvl="1"/>
            <a:endParaRPr lang="en-US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243D531-8F37-AF87-759A-E9251A4FF875}"/>
              </a:ext>
            </a:extLst>
          </p:cNvPr>
          <p:cNvSpPr/>
          <p:nvPr/>
        </p:nvSpPr>
        <p:spPr>
          <a:xfrm>
            <a:off x="479449" y="2816297"/>
            <a:ext cx="777600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IN" dirty="0" err="1">
                <a:solidFill>
                  <a:schemeClr val="tx1"/>
                </a:solidFill>
              </a:rPr>
              <a:t>mongorestore</a:t>
            </a:r>
            <a:r>
              <a:rPr lang="en-US" dirty="0">
                <a:solidFill>
                  <a:schemeClr val="tx1"/>
                </a:solidFill>
              </a:rPr>
              <a:t> -d </a:t>
            </a:r>
            <a:r>
              <a:rPr lang="en-US" dirty="0" err="1">
                <a:solidFill>
                  <a:schemeClr val="tx1"/>
                </a:solidFill>
              </a:rPr>
              <a:t>databaseName</a:t>
            </a:r>
            <a:r>
              <a:rPr lang="en-US" dirty="0">
                <a:solidFill>
                  <a:schemeClr val="tx1"/>
                </a:solidFill>
              </a:rPr>
              <a:t> -c </a:t>
            </a:r>
            <a:r>
              <a:rPr lang="en-US" dirty="0" err="1">
                <a:solidFill>
                  <a:schemeClr val="tx1"/>
                </a:solidFill>
              </a:rPr>
              <a:t>collectionName</a:t>
            </a:r>
            <a:r>
              <a:rPr lang="en-US" dirty="0">
                <a:solidFill>
                  <a:schemeClr val="tx1"/>
                </a:solidFill>
              </a:rPr>
              <a:t> path	OR</a:t>
            </a:r>
          </a:p>
          <a:p>
            <a:pPr>
              <a:lnSpc>
                <a:spcPts val="2400"/>
              </a:lnSpc>
            </a:pPr>
            <a:r>
              <a:rPr lang="en-IN" dirty="0" err="1">
                <a:solidFill>
                  <a:schemeClr val="tx1"/>
                </a:solidFill>
              </a:rPr>
              <a:t>mongorestore</a:t>
            </a:r>
            <a:r>
              <a:rPr lang="en-US" dirty="0">
                <a:solidFill>
                  <a:schemeClr val="tx1"/>
                </a:solidFill>
              </a:rPr>
              <a:t> --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databaseName</a:t>
            </a:r>
            <a:r>
              <a:rPr lang="en-US" dirty="0">
                <a:solidFill>
                  <a:schemeClr val="tx1"/>
                </a:solidFill>
              </a:rPr>
              <a:t> --collection </a:t>
            </a:r>
            <a:r>
              <a:rPr lang="en-US" dirty="0" err="1">
                <a:solidFill>
                  <a:schemeClr val="tx1"/>
                </a:solidFill>
              </a:rPr>
              <a:t>collectionName</a:t>
            </a:r>
            <a:r>
              <a:rPr lang="en-US" dirty="0">
                <a:solidFill>
                  <a:schemeClr val="tx1"/>
                </a:solidFill>
              </a:rPr>
              <a:t> path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6917C07E-E61F-8295-6CEA-5BA4E91DAAFA}"/>
              </a:ext>
            </a:extLst>
          </p:cNvPr>
          <p:cNvSpPr/>
          <p:nvPr/>
        </p:nvSpPr>
        <p:spPr>
          <a:xfrm>
            <a:off x="479449" y="245053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392564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76BFE-026B-7BE3-E783-2993F857D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5701A-1B1C-9608-9EF5-41EBD152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Backup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E542-6A84-7049-B6A9-FC6B71DDF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Taking Backup in MongoDB (</a:t>
            </a:r>
            <a:r>
              <a:rPr lang="en-US" dirty="0" err="1"/>
              <a:t>mongodump</a:t>
            </a:r>
            <a:r>
              <a:rPr lang="en-US" dirty="0"/>
              <a:t>)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pPr lvl="1"/>
            <a:r>
              <a:rPr lang="en-IN" dirty="0"/>
              <a:t>--</a:t>
            </a:r>
            <a:r>
              <a:rPr lang="en-IN" dirty="0" err="1"/>
              <a:t>db</a:t>
            </a:r>
            <a:r>
              <a:rPr lang="en-IN" dirty="0"/>
              <a:t> college → Database name</a:t>
            </a:r>
            <a:endParaRPr lang="en-US" dirty="0"/>
          </a:p>
          <a:p>
            <a:pPr lvl="1"/>
            <a:r>
              <a:rPr lang="en-US" dirty="0"/>
              <a:t>--collection student → Collection name</a:t>
            </a:r>
          </a:p>
          <a:p>
            <a:pPr lvl="1"/>
            <a:r>
              <a:rPr lang="en-US" dirty="0"/>
              <a:t>c:\backup → Location from where backup will be restored</a:t>
            </a: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BDD45030-0B98-C928-5C70-4C890AC3905B}"/>
              </a:ext>
            </a:extLst>
          </p:cNvPr>
          <p:cNvSpPr/>
          <p:nvPr/>
        </p:nvSpPr>
        <p:spPr>
          <a:xfrm>
            <a:off x="479449" y="1631927"/>
            <a:ext cx="7776000" cy="3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mongodump</a:t>
            </a:r>
            <a:r>
              <a:rPr lang="en-US" dirty="0">
                <a:solidFill>
                  <a:schemeClr val="tx1"/>
                </a:solidFill>
              </a:rPr>
              <a:t> --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 college --collection student c:\backup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D4DA1FB4-4792-B58D-358B-899F4B01F2AF}"/>
              </a:ext>
            </a:extLst>
          </p:cNvPr>
          <p:cNvSpPr/>
          <p:nvPr/>
        </p:nvSpPr>
        <p:spPr>
          <a:xfrm>
            <a:off x="479449" y="126616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08659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Time series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- 9</a:t>
            </a:r>
          </a:p>
        </p:txBody>
      </p:sp>
    </p:spTree>
    <p:extLst>
      <p:ext uri="{BB962C8B-B14F-4D97-AF65-F5344CB8AC3E}">
        <p14:creationId xmlns:p14="http://schemas.microsoft.com/office/powerpoint/2010/main" val="4178928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series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Time series data is a collection of numeric values recorded over time at </a:t>
            </a:r>
            <a:r>
              <a:rPr lang="en-US" dirty="0">
                <a:solidFill>
                  <a:schemeClr val="accent6"/>
                </a:solidFill>
              </a:rPr>
              <a:t>regular intervals</a:t>
            </a:r>
            <a:r>
              <a:rPr lang="en-US" dirty="0"/>
              <a:t>.</a:t>
            </a:r>
          </a:p>
          <a:p>
            <a:r>
              <a:rPr lang="en-US" dirty="0"/>
              <a:t>It can be use to understand the past and </a:t>
            </a:r>
            <a:r>
              <a:rPr lang="en-US" dirty="0">
                <a:solidFill>
                  <a:schemeClr val="accent6"/>
                </a:solidFill>
              </a:rPr>
              <a:t>make predictions about the future</a:t>
            </a:r>
            <a:r>
              <a:rPr lang="en-US" dirty="0"/>
              <a:t>.</a:t>
            </a:r>
          </a:p>
          <a:p>
            <a:r>
              <a:rPr lang="en-US" dirty="0"/>
              <a:t>Examples of Time Series data</a:t>
            </a:r>
          </a:p>
          <a:p>
            <a:pPr lvl="1"/>
            <a:r>
              <a:rPr lang="en-US" dirty="0"/>
              <a:t>Financial time series data(Socket Market)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Weather data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2E745A-A2E5-1616-D023-F739C4F4F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24195"/>
              </p:ext>
            </p:extLst>
          </p:nvPr>
        </p:nvGraphicFramePr>
        <p:xfrm>
          <a:off x="1059954" y="2607807"/>
          <a:ext cx="688562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3455522372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3468181858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560091971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3537321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2024-02-15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150.25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152.80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149.50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151.30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1,200,000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51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2024-02-16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151.40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1,100,000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19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2024-02-17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152.60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154.20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151.90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137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8A0D53-B976-15C1-E788-6797BBAE7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989441"/>
              </p:ext>
            </p:extLst>
          </p:nvPr>
        </p:nvGraphicFramePr>
        <p:xfrm>
          <a:off x="1059954" y="4580846"/>
          <a:ext cx="850423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3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930">
                  <a:extLst>
                    <a:ext uri="{9D8B030D-6E8A-4147-A177-3AD203B41FA5}">
                      <a16:colId xmlns:a16="http://schemas.microsoft.com/office/drawing/2014/main" val="3455522372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3468181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Temperature (°C)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Humidity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Wind Speed (km/h)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Rainfall (mm)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2024-02-15 06:00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51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2024-02-15 12:00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19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2024-02-15 18:00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13785"/>
                  </a:ext>
                </a:extLst>
              </a:tr>
            </a:tbl>
          </a:graphicData>
        </a:graphic>
      </p:graphicFrame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72B7F635-DD3C-FAE4-FBB9-3585DA1D0207}"/>
              </a:ext>
            </a:extLst>
          </p:cNvPr>
          <p:cNvSpPr/>
          <p:nvPr/>
        </p:nvSpPr>
        <p:spPr>
          <a:xfrm>
            <a:off x="8045375" y="2118128"/>
            <a:ext cx="3994225" cy="1622600"/>
          </a:xfrm>
          <a:prstGeom prst="roundRect">
            <a:avLst>
              <a:gd name="adj" fmla="val 160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IoT Sensor Data (Smart Devices)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Traffic Data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Sales and Revenue Data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Electricity Consumption Data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Cryptocurrency Price Data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CD0DF7DA-1806-DBF3-C727-886F4F58276F}"/>
              </a:ext>
            </a:extLst>
          </p:cNvPr>
          <p:cNvSpPr/>
          <p:nvPr/>
        </p:nvSpPr>
        <p:spPr>
          <a:xfrm>
            <a:off x="8045375" y="1752367"/>
            <a:ext cx="3456000" cy="365760"/>
          </a:xfrm>
          <a:prstGeom prst="roundRect">
            <a:avLst>
              <a:gd name="adj" fmla="val 625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Other examples of time series data:</a:t>
            </a:r>
          </a:p>
        </p:txBody>
      </p:sp>
    </p:spTree>
    <p:extLst>
      <p:ext uri="{BB962C8B-B14F-4D97-AF65-F5344CB8AC3E}">
        <p14:creationId xmlns:p14="http://schemas.microsoft.com/office/powerpoint/2010/main" val="215196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BASE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- 10</a:t>
            </a:r>
          </a:p>
        </p:txBody>
      </p:sp>
    </p:spTree>
    <p:extLst>
      <p:ext uri="{BB962C8B-B14F-4D97-AF65-F5344CB8AC3E}">
        <p14:creationId xmlns:p14="http://schemas.microsoft.com/office/powerpoint/2010/main" val="17587210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750077" cy="5590565"/>
          </a:xfrm>
        </p:spPr>
        <p:txBody>
          <a:bodyPr/>
          <a:lstStyle/>
          <a:p>
            <a:r>
              <a:rPr lang="en-US" b="1" dirty="0"/>
              <a:t>BASE</a:t>
            </a:r>
            <a:r>
              <a:rPr lang="en-US" dirty="0"/>
              <a:t> stands for:</a:t>
            </a:r>
          </a:p>
          <a:p>
            <a:pPr algn="l"/>
            <a:r>
              <a:rPr lang="en-US" b="1" dirty="0"/>
              <a:t>BA – Basically Available</a:t>
            </a:r>
            <a:br>
              <a:rPr lang="en-US" dirty="0"/>
            </a:br>
            <a:r>
              <a:rPr lang="en-US" b="1" dirty="0"/>
              <a:t>S – Soft State</a:t>
            </a:r>
            <a:br>
              <a:rPr lang="en-US" dirty="0"/>
            </a:br>
            <a:r>
              <a:rPr lang="en-US" b="1" dirty="0"/>
              <a:t>E – Eventual Consistency</a:t>
            </a:r>
            <a:endParaRPr lang="en-US" dirty="0"/>
          </a:p>
          <a:p>
            <a:r>
              <a:rPr lang="en-US" dirty="0"/>
              <a:t>MongoDB follows the </a:t>
            </a:r>
            <a:r>
              <a:rPr lang="en-US" b="1" dirty="0"/>
              <a:t>BASE model</a:t>
            </a:r>
            <a:r>
              <a:rPr lang="en-US" dirty="0"/>
              <a:t> to provide better </a:t>
            </a:r>
            <a:r>
              <a:rPr lang="en-US" b="1" dirty="0"/>
              <a:t>performance, scalability, and distributed database system</a:t>
            </a:r>
            <a:r>
              <a:rPr lang="en-US" dirty="0"/>
              <a:t>.</a:t>
            </a:r>
          </a:p>
          <a:p>
            <a:r>
              <a:rPr lang="en-US" dirty="0"/>
              <a:t>A distributed database is a system where data is stored across multiple physically separated locations (nodes) but managed as a single, cohesive database.</a:t>
            </a:r>
          </a:p>
          <a:p>
            <a:endParaRPr lang="en-US" dirty="0"/>
          </a:p>
        </p:txBody>
      </p:sp>
      <p:pic>
        <p:nvPicPr>
          <p:cNvPr id="4" name="Picture 2" descr="Distributed Database Management System (Distributed DBMS)">
            <a:extLst>
              <a:ext uri="{FF2B5EF4-FFF2-40B4-BE49-F238E27FC236}">
                <a16:creationId xmlns:a16="http://schemas.microsoft.com/office/drawing/2014/main" id="{420DEA57-D095-B54C-E542-925DB2ED3F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0" t="7749" r="6846" b="6892"/>
          <a:stretch>
            <a:fillRect/>
          </a:stretch>
        </p:blipFill>
        <p:spPr bwMode="auto">
          <a:xfrm>
            <a:off x="7967790" y="972457"/>
            <a:ext cx="4093030" cy="391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52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4344-6C96-92F9-AAB5-2D8D4AD5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EE3-7E9B-6F43-8CF1-6762B268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Theorem | </a:t>
            </a:r>
            <a:r>
              <a:rPr lang="en-IN" dirty="0"/>
              <a:t>Basically Available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C4F29-D643-B502-3453-A6D9D4C33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096934" cy="5590565"/>
          </a:xfrm>
        </p:spPr>
        <p:txBody>
          <a:bodyPr/>
          <a:lstStyle/>
          <a:p>
            <a:r>
              <a:rPr lang="en-US" dirty="0"/>
              <a:t>The system </a:t>
            </a:r>
            <a:r>
              <a:rPr lang="en-US" b="1" dirty="0"/>
              <a:t>always remains available</a:t>
            </a:r>
            <a:r>
              <a:rPr lang="en-US" dirty="0"/>
              <a:t> even if some parts of the system fail.</a:t>
            </a:r>
          </a:p>
          <a:p>
            <a:pPr lvl="1"/>
            <a:r>
              <a:rPr lang="en-US" dirty="0"/>
              <a:t>The database will still respond to requests.</a:t>
            </a:r>
          </a:p>
          <a:p>
            <a:pPr lvl="1"/>
            <a:r>
              <a:rPr lang="en-US" dirty="0"/>
              <a:t>Data may not always be perfectly consistent, but the system continues to operate.</a:t>
            </a:r>
          </a:p>
          <a:p>
            <a:pPr algn="l"/>
            <a:r>
              <a:rPr lang="en-US" dirty="0"/>
              <a:t>Example: If one node in a MongoDB cluster fails, other nodes still serve the requests.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F660E-491A-122C-B352-83723E8A0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571" t="22359" r="14286" b="22738"/>
          <a:stretch/>
        </p:blipFill>
        <p:spPr>
          <a:xfrm>
            <a:off x="7474856" y="1838957"/>
            <a:ext cx="4528456" cy="36395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050" name="Picture 2" descr="User (computing) - Wikipedia">
            <a:extLst>
              <a:ext uri="{FF2B5EF4-FFF2-40B4-BE49-F238E27FC236}">
                <a16:creationId xmlns:a16="http://schemas.microsoft.com/office/drawing/2014/main" id="{DB0BA893-F44B-DA4C-C7E0-E00CBB21D0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597" t="2753" r="14021" b="9206"/>
          <a:stretch/>
        </p:blipFill>
        <p:spPr bwMode="auto">
          <a:xfrm>
            <a:off x="7964226" y="4659084"/>
            <a:ext cx="584689" cy="71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9EA895-1288-EB4A-59F9-1B02F1D27337}"/>
              </a:ext>
            </a:extLst>
          </p:cNvPr>
          <p:cNvSpPr txBox="1"/>
          <p:nvPr/>
        </p:nvSpPr>
        <p:spPr>
          <a:xfrm>
            <a:off x="7802440" y="357930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E8D93-6FF9-F81A-D61D-4C321F0D96E8}"/>
              </a:ext>
            </a:extLst>
          </p:cNvPr>
          <p:cNvSpPr txBox="1"/>
          <p:nvPr/>
        </p:nvSpPr>
        <p:spPr>
          <a:xfrm>
            <a:off x="7792915" y="199759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FD226-FADD-0E14-E7A9-6BDA8C9BB7AF}"/>
              </a:ext>
            </a:extLst>
          </p:cNvPr>
          <p:cNvSpPr txBox="1"/>
          <p:nvPr/>
        </p:nvSpPr>
        <p:spPr>
          <a:xfrm>
            <a:off x="9338224" y="181292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B4791-409D-5398-E6CC-A065E72F9A17}"/>
              </a:ext>
            </a:extLst>
          </p:cNvPr>
          <p:cNvSpPr txBox="1"/>
          <p:nvPr/>
        </p:nvSpPr>
        <p:spPr>
          <a:xfrm>
            <a:off x="10939958" y="203101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363DC-C3FD-D742-4051-E95244ACD6F0}"/>
              </a:ext>
            </a:extLst>
          </p:cNvPr>
          <p:cNvSpPr txBox="1"/>
          <p:nvPr/>
        </p:nvSpPr>
        <p:spPr>
          <a:xfrm>
            <a:off x="10939958" y="357168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A57F6-E7F9-09AA-1FAE-216C8A29AED2}"/>
              </a:ext>
            </a:extLst>
          </p:cNvPr>
          <p:cNvSpPr txBox="1"/>
          <p:nvPr/>
        </p:nvSpPr>
        <p:spPr>
          <a:xfrm>
            <a:off x="9418234" y="5185619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1C5208-B490-5E33-8BA5-F6016C677252}"/>
              </a:ext>
            </a:extLst>
          </p:cNvPr>
          <p:cNvSpPr txBox="1"/>
          <p:nvPr/>
        </p:nvSpPr>
        <p:spPr>
          <a:xfrm>
            <a:off x="7802440" y="357930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ECE03D-69D4-E8B2-F403-392E08E4B51E}"/>
              </a:ext>
            </a:extLst>
          </p:cNvPr>
          <p:cNvSpPr/>
          <p:nvPr/>
        </p:nvSpPr>
        <p:spPr>
          <a:xfrm>
            <a:off x="7581900" y="3424384"/>
            <a:ext cx="1295400" cy="1234700"/>
          </a:xfrm>
          <a:prstGeom prst="ellipse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88206056-00B7-F618-2FAE-B4145CBDC19B}"/>
              </a:ext>
            </a:extLst>
          </p:cNvPr>
          <p:cNvSpPr/>
          <p:nvPr/>
        </p:nvSpPr>
        <p:spPr>
          <a:xfrm>
            <a:off x="7581900" y="3347928"/>
            <a:ext cx="1295400" cy="1311156"/>
          </a:xfrm>
          <a:prstGeom prst="mathMultiply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53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59259E-6 L 0.25534 -0.2354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60" y="-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59259E-6 L 0.25808 -0.00208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04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7D87E-DDE2-C0C8-D2ED-914431D5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C73F-94E3-F42A-572D-05CBFC38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Theorem | </a:t>
            </a:r>
            <a:r>
              <a:rPr lang="en-IN" dirty="0"/>
              <a:t>Soft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0413-90FE-CCF5-685D-DCD19F5ED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096934" cy="5590565"/>
          </a:xfrm>
        </p:spPr>
        <p:txBody>
          <a:bodyPr/>
          <a:lstStyle/>
          <a:p>
            <a:r>
              <a:rPr lang="en-US" dirty="0"/>
              <a:t>The state of the system </a:t>
            </a:r>
            <a:r>
              <a:rPr lang="en-US" b="1" dirty="0"/>
              <a:t>may change over time</a:t>
            </a:r>
            <a:r>
              <a:rPr lang="en-US" dirty="0"/>
              <a:t> even without new input because of </a:t>
            </a:r>
            <a:r>
              <a:rPr lang="en-US" b="1" dirty="0"/>
              <a:t>replication or synchronization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 in different nodes may temporarily differ.</a:t>
            </a:r>
          </a:p>
          <a:p>
            <a:pPr lvl="1"/>
            <a:r>
              <a:rPr lang="en-US" dirty="0"/>
              <a:t>The system is continuously updating and synchronizing data.</a:t>
            </a:r>
          </a:p>
          <a:p>
            <a:pPr algn="l"/>
            <a:r>
              <a:rPr lang="en-US" dirty="0"/>
              <a:t>Example: In MongoDB replication, the </a:t>
            </a:r>
            <a:r>
              <a:rPr lang="en-US" b="1" dirty="0"/>
              <a:t>secondary node may temporarily have older data</a:t>
            </a:r>
            <a:r>
              <a:rPr lang="en-US" dirty="0"/>
              <a:t> than the primary node.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E6EB2-604A-0E47-B73E-CCEF46546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571" t="22359" r="14286" b="22738"/>
          <a:stretch/>
        </p:blipFill>
        <p:spPr>
          <a:xfrm>
            <a:off x="7474856" y="1838957"/>
            <a:ext cx="4528456" cy="36395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050" name="Picture 2" descr="User (computing) - Wikipedia">
            <a:extLst>
              <a:ext uri="{FF2B5EF4-FFF2-40B4-BE49-F238E27FC236}">
                <a16:creationId xmlns:a16="http://schemas.microsoft.com/office/drawing/2014/main" id="{D33DA263-C7B5-45F5-A643-AB98F64C73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597" t="2753" r="14021" b="9206"/>
          <a:stretch/>
        </p:blipFill>
        <p:spPr bwMode="auto">
          <a:xfrm>
            <a:off x="7964226" y="4659084"/>
            <a:ext cx="584689" cy="71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19ADB8-80AB-072D-6898-6C41354AD62C}"/>
              </a:ext>
            </a:extLst>
          </p:cNvPr>
          <p:cNvSpPr txBox="1"/>
          <p:nvPr/>
        </p:nvSpPr>
        <p:spPr>
          <a:xfrm>
            <a:off x="7802440" y="357930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FB7AA-4482-232D-5471-C8C84663E79F}"/>
              </a:ext>
            </a:extLst>
          </p:cNvPr>
          <p:cNvSpPr txBox="1"/>
          <p:nvPr/>
        </p:nvSpPr>
        <p:spPr>
          <a:xfrm>
            <a:off x="7792915" y="199759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E581B-20E1-8D48-71DE-E94EFE4770EE}"/>
              </a:ext>
            </a:extLst>
          </p:cNvPr>
          <p:cNvSpPr txBox="1"/>
          <p:nvPr/>
        </p:nvSpPr>
        <p:spPr>
          <a:xfrm>
            <a:off x="9338224" y="181292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7965D-8585-48DD-F082-4A2A6D90A950}"/>
              </a:ext>
            </a:extLst>
          </p:cNvPr>
          <p:cNvSpPr txBox="1"/>
          <p:nvPr/>
        </p:nvSpPr>
        <p:spPr>
          <a:xfrm>
            <a:off x="10939958" y="203101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53A67-3820-0B39-9F16-9618FAC4538E}"/>
              </a:ext>
            </a:extLst>
          </p:cNvPr>
          <p:cNvSpPr txBox="1"/>
          <p:nvPr/>
        </p:nvSpPr>
        <p:spPr>
          <a:xfrm>
            <a:off x="10939958" y="357168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E2A02-847E-21E0-8D5D-66C6EF58B872}"/>
              </a:ext>
            </a:extLst>
          </p:cNvPr>
          <p:cNvSpPr txBox="1"/>
          <p:nvPr/>
        </p:nvSpPr>
        <p:spPr>
          <a:xfrm>
            <a:off x="9418234" y="5185619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227D8A-0FCC-48FE-3151-B410845F2483}"/>
              </a:ext>
            </a:extLst>
          </p:cNvPr>
          <p:cNvSpPr txBox="1"/>
          <p:nvPr/>
        </p:nvSpPr>
        <p:spPr>
          <a:xfrm>
            <a:off x="7802440" y="357930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8B8CE7-6204-F8A0-3018-451F41C72E09}"/>
              </a:ext>
            </a:extLst>
          </p:cNvPr>
          <p:cNvSpPr txBox="1"/>
          <p:nvPr/>
        </p:nvSpPr>
        <p:spPr>
          <a:xfrm>
            <a:off x="7387771" y="3196962"/>
            <a:ext cx="164011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Upadate</a:t>
            </a:r>
            <a:r>
              <a:rPr lang="en-US" dirty="0"/>
              <a:t> X=800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C640C9-CD3B-685B-8077-682D1A4E0515}"/>
              </a:ext>
            </a:extLst>
          </p:cNvPr>
          <p:cNvSpPr txBox="1"/>
          <p:nvPr/>
        </p:nvSpPr>
        <p:spPr>
          <a:xfrm>
            <a:off x="7804645" y="3575377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4DED3-4898-10AB-9785-9E9D22FCA44F}"/>
              </a:ext>
            </a:extLst>
          </p:cNvPr>
          <p:cNvSpPr txBox="1"/>
          <p:nvPr/>
        </p:nvSpPr>
        <p:spPr>
          <a:xfrm>
            <a:off x="7792915" y="1995689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22F455-F771-EBF8-74F2-C2D6586DA839}"/>
              </a:ext>
            </a:extLst>
          </p:cNvPr>
          <p:cNvSpPr txBox="1"/>
          <p:nvPr/>
        </p:nvSpPr>
        <p:spPr>
          <a:xfrm>
            <a:off x="9341399" y="1817373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B7784-ACD3-4C63-29A9-2DD820BBE6D8}"/>
              </a:ext>
            </a:extLst>
          </p:cNvPr>
          <p:cNvSpPr txBox="1"/>
          <p:nvPr/>
        </p:nvSpPr>
        <p:spPr>
          <a:xfrm>
            <a:off x="10949483" y="203863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0C8DC1-8470-2C57-CEDF-F36B2274A441}"/>
              </a:ext>
            </a:extLst>
          </p:cNvPr>
          <p:cNvSpPr txBox="1"/>
          <p:nvPr/>
        </p:nvSpPr>
        <p:spPr>
          <a:xfrm>
            <a:off x="10949483" y="357930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981299-1165-26A1-6BA9-1A44C4406C6B}"/>
              </a:ext>
            </a:extLst>
          </p:cNvPr>
          <p:cNvSpPr txBox="1"/>
          <p:nvPr/>
        </p:nvSpPr>
        <p:spPr>
          <a:xfrm>
            <a:off x="9421409" y="519006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49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B0AAA-F1DC-5A16-9029-8C64D9BB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BD55-E3B2-96CA-6728-62E6CD6C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Theorem | </a:t>
            </a:r>
            <a:r>
              <a:rPr lang="en-IN" dirty="0"/>
              <a:t>Eventual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C7BD9-6203-F69D-779C-98F3A4993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096934" cy="5590565"/>
          </a:xfrm>
        </p:spPr>
        <p:txBody>
          <a:bodyPr/>
          <a:lstStyle/>
          <a:p>
            <a:r>
              <a:rPr lang="en-US" dirty="0"/>
              <a:t>Eventually, all nodes in the system </a:t>
            </a:r>
            <a:r>
              <a:rPr lang="en-US" b="1" dirty="0"/>
              <a:t>will become consistent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After some time, all replicas will have the same data.</a:t>
            </a:r>
          </a:p>
          <a:p>
            <a:pPr lvl="1"/>
            <a:r>
              <a:rPr lang="en-US" dirty="0"/>
              <a:t>Temporary inconsistencies are allowed.</a:t>
            </a:r>
          </a:p>
          <a:p>
            <a:r>
              <a:rPr lang="en-US" dirty="0"/>
              <a:t>Example: When data is inserted or updated in the </a:t>
            </a:r>
            <a:r>
              <a:rPr lang="en-US" b="1" dirty="0"/>
              <a:t>primary node</a:t>
            </a:r>
            <a:r>
              <a:rPr lang="en-US" dirty="0"/>
              <a:t>, secondary nodes will eventually receive the same data through replication.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83F7FF-6AAB-7348-121A-9A4B95BC8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571" t="22359" r="14286" b="22738"/>
          <a:stretch/>
        </p:blipFill>
        <p:spPr>
          <a:xfrm>
            <a:off x="7474856" y="1838957"/>
            <a:ext cx="4528456" cy="36395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3" name="Picture 2" descr="User (computing) - Wikipedia">
            <a:extLst>
              <a:ext uri="{FF2B5EF4-FFF2-40B4-BE49-F238E27FC236}">
                <a16:creationId xmlns:a16="http://schemas.microsoft.com/office/drawing/2014/main" id="{5B60C237-F699-DA09-2C62-2358F68FE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597" t="2753" r="14021" b="9206"/>
          <a:stretch/>
        </p:blipFill>
        <p:spPr bwMode="auto">
          <a:xfrm>
            <a:off x="7964226" y="4659084"/>
            <a:ext cx="584689" cy="71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956F8E-8C85-3593-ECC2-91747B218CF9}"/>
              </a:ext>
            </a:extLst>
          </p:cNvPr>
          <p:cNvSpPr txBox="1"/>
          <p:nvPr/>
        </p:nvSpPr>
        <p:spPr>
          <a:xfrm>
            <a:off x="7802440" y="357930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C27E45-BBEC-1D04-3DFE-06122635A5FB}"/>
              </a:ext>
            </a:extLst>
          </p:cNvPr>
          <p:cNvSpPr txBox="1"/>
          <p:nvPr/>
        </p:nvSpPr>
        <p:spPr>
          <a:xfrm>
            <a:off x="7792915" y="199759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3F5A97-62BD-8C5B-8119-A5FE36AEF6C0}"/>
              </a:ext>
            </a:extLst>
          </p:cNvPr>
          <p:cNvSpPr txBox="1"/>
          <p:nvPr/>
        </p:nvSpPr>
        <p:spPr>
          <a:xfrm>
            <a:off x="9338224" y="181292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E7BE11-6298-2A02-EBAF-EEC350D82A1E}"/>
              </a:ext>
            </a:extLst>
          </p:cNvPr>
          <p:cNvSpPr txBox="1"/>
          <p:nvPr/>
        </p:nvSpPr>
        <p:spPr>
          <a:xfrm>
            <a:off x="10939958" y="203101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FA7CE8-CAFA-F920-E1D6-941BF248CFD7}"/>
              </a:ext>
            </a:extLst>
          </p:cNvPr>
          <p:cNvSpPr txBox="1"/>
          <p:nvPr/>
        </p:nvSpPr>
        <p:spPr>
          <a:xfrm>
            <a:off x="10939958" y="357168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85B9E6-4F55-3018-0EE1-181E44325EE6}"/>
              </a:ext>
            </a:extLst>
          </p:cNvPr>
          <p:cNvSpPr txBox="1"/>
          <p:nvPr/>
        </p:nvSpPr>
        <p:spPr>
          <a:xfrm>
            <a:off x="9418234" y="5185619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4B8792-B52B-C747-C859-2C878A1B01E8}"/>
              </a:ext>
            </a:extLst>
          </p:cNvPr>
          <p:cNvSpPr txBox="1"/>
          <p:nvPr/>
        </p:nvSpPr>
        <p:spPr>
          <a:xfrm>
            <a:off x="7802440" y="357930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X=500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00EE78-C002-22A4-DDE1-D373C8292409}"/>
              </a:ext>
            </a:extLst>
          </p:cNvPr>
          <p:cNvSpPr txBox="1"/>
          <p:nvPr/>
        </p:nvSpPr>
        <p:spPr>
          <a:xfrm>
            <a:off x="7387771" y="3196962"/>
            <a:ext cx="164011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Upadate</a:t>
            </a:r>
            <a:r>
              <a:rPr lang="en-US" dirty="0"/>
              <a:t> X=800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941AA5-81B6-B5A6-7AA6-D7E0FC9D11BA}"/>
              </a:ext>
            </a:extLst>
          </p:cNvPr>
          <p:cNvSpPr txBox="1"/>
          <p:nvPr/>
        </p:nvSpPr>
        <p:spPr>
          <a:xfrm>
            <a:off x="7804645" y="3575377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D94DA-35AF-5DA4-5251-ABE261D8C57D}"/>
              </a:ext>
            </a:extLst>
          </p:cNvPr>
          <p:cNvSpPr txBox="1"/>
          <p:nvPr/>
        </p:nvSpPr>
        <p:spPr>
          <a:xfrm>
            <a:off x="7792915" y="1995689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13FE0C-07A8-0897-B6D1-8F9BCABF0D18}"/>
              </a:ext>
            </a:extLst>
          </p:cNvPr>
          <p:cNvSpPr txBox="1"/>
          <p:nvPr/>
        </p:nvSpPr>
        <p:spPr>
          <a:xfrm>
            <a:off x="9341399" y="1817373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AD2B7B-FCE1-B50E-42A0-9A977D61EBBC}"/>
              </a:ext>
            </a:extLst>
          </p:cNvPr>
          <p:cNvSpPr txBox="1"/>
          <p:nvPr/>
        </p:nvSpPr>
        <p:spPr>
          <a:xfrm>
            <a:off x="10949483" y="203863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0772F1-10F8-DA69-53B4-6B7EF92A398C}"/>
              </a:ext>
            </a:extLst>
          </p:cNvPr>
          <p:cNvSpPr txBox="1"/>
          <p:nvPr/>
        </p:nvSpPr>
        <p:spPr>
          <a:xfrm>
            <a:off x="10949483" y="3579308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114B96-FF23-48ED-040A-2B7583203E16}"/>
              </a:ext>
            </a:extLst>
          </p:cNvPr>
          <p:cNvSpPr txBox="1"/>
          <p:nvPr/>
        </p:nvSpPr>
        <p:spPr>
          <a:xfrm>
            <a:off x="9421409" y="5190064"/>
            <a:ext cx="756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X=800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48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E205D-43C3-FE80-BC77-739475E7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6867-86F6-486D-86C2-118BCC67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451D5-D64B-CDA7-9FF1-651329939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BASE stands for </a:t>
            </a:r>
            <a:r>
              <a:rPr lang="en-US" b="1" dirty="0">
                <a:solidFill>
                  <a:schemeClr val="accent6"/>
                </a:solidFill>
              </a:rPr>
              <a:t>B</a:t>
            </a:r>
            <a:r>
              <a:rPr lang="en-US" dirty="0"/>
              <a:t>asically </a:t>
            </a:r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US" dirty="0"/>
              <a:t>vailable, </a:t>
            </a:r>
            <a:r>
              <a:rPr lang="en-US" b="1" dirty="0">
                <a:solidFill>
                  <a:schemeClr val="accent6"/>
                </a:solidFill>
              </a:rPr>
              <a:t>S</a:t>
            </a:r>
            <a:r>
              <a:rPr lang="en-US" dirty="0"/>
              <a:t>oft State, and </a:t>
            </a:r>
            <a:r>
              <a:rPr lang="en-US" b="1" dirty="0">
                <a:solidFill>
                  <a:schemeClr val="accent6"/>
                </a:solidFill>
              </a:rPr>
              <a:t>E</a:t>
            </a:r>
            <a:r>
              <a:rPr lang="en-US" dirty="0"/>
              <a:t>ventual Consistency.</a:t>
            </a:r>
          </a:p>
          <a:p>
            <a:r>
              <a:rPr lang="en-US" dirty="0"/>
              <a:t>Basically Available (The system is designed to be available as much as possible.)</a:t>
            </a:r>
          </a:p>
          <a:p>
            <a:pPr lvl="1"/>
            <a:r>
              <a:rPr lang="en-US" dirty="0"/>
              <a:t>This property refers to the fact that the database system should always be available to respond to user requests even in the event of failure.</a:t>
            </a:r>
          </a:p>
          <a:p>
            <a:pPr lvl="1"/>
            <a:r>
              <a:rPr lang="en-US" dirty="0"/>
              <a:t>Rather than enforcing immediate consistency, BASE-modelled NoSQL databases will ensure availability of data by spreading and replicating it across the nodes of the database cluster.</a:t>
            </a:r>
          </a:p>
          <a:p>
            <a:r>
              <a:rPr lang="en-US" dirty="0"/>
              <a:t>Soft State (The state of the system can change over time, even without input.)</a:t>
            </a:r>
          </a:p>
          <a:p>
            <a:pPr lvl="1"/>
            <a:r>
              <a:rPr lang="en-US" dirty="0"/>
              <a:t>This property refers to the fact that the state of the database can change over time, even without any explicit user intervention. </a:t>
            </a:r>
          </a:p>
          <a:p>
            <a:pPr lvl="1"/>
            <a:r>
              <a:rPr lang="en-US" dirty="0"/>
              <a:t>This can happen due to the effects of background processes, updates to data, and other factors. </a:t>
            </a:r>
          </a:p>
          <a:p>
            <a:pPr lvl="1"/>
            <a:r>
              <a:rPr lang="en-US" dirty="0"/>
              <a:t>The database should be designed to handle this change gracefully, and ensure that it does not lead to data corruption or loss.</a:t>
            </a:r>
          </a:p>
          <a:p>
            <a:r>
              <a:rPr lang="en-US" dirty="0"/>
              <a:t>Eventual Consistency (The system will eventually become consistent.)</a:t>
            </a:r>
          </a:p>
          <a:p>
            <a:pPr lvl="1"/>
            <a:r>
              <a:rPr lang="en-US" dirty="0"/>
              <a:t>The fact that BASE does not obligates immediate consistency but it does not mean that it never achieves it.</a:t>
            </a:r>
          </a:p>
          <a:p>
            <a:pPr lvl="1"/>
            <a:r>
              <a:rPr lang="en-US" dirty="0"/>
              <a:t>The system will eventually become consistent once it stops receiving input.</a:t>
            </a:r>
          </a:p>
        </p:txBody>
      </p:sp>
    </p:spTree>
    <p:extLst>
      <p:ext uri="{BB962C8B-B14F-4D97-AF65-F5344CB8AC3E}">
        <p14:creationId xmlns:p14="http://schemas.microsoft.com/office/powerpoint/2010/main" val="384214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Where BASE Databases can be used?</a:t>
            </a:r>
          </a:p>
          <a:p>
            <a:pPr lvl="1"/>
            <a:r>
              <a:rPr lang="en-US" dirty="0"/>
              <a:t>BASE databases are used in modern, highly-available, and scalable systems that handle large amounts of data. </a:t>
            </a:r>
          </a:p>
          <a:p>
            <a:pPr lvl="1"/>
            <a:r>
              <a:rPr lang="en-US" dirty="0"/>
              <a:t>Examples of such systems include online shopping websites, social media platforms, and cloud-based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81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CAP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- 11</a:t>
            </a:r>
          </a:p>
        </p:txBody>
      </p:sp>
    </p:spTree>
    <p:extLst>
      <p:ext uri="{BB962C8B-B14F-4D97-AF65-F5344CB8AC3E}">
        <p14:creationId xmlns:p14="http://schemas.microsoft.com/office/powerpoint/2010/main" val="29273216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721049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CAP Theorem</a:t>
            </a:r>
            <a:r>
              <a:rPr lang="en-US" dirty="0"/>
              <a:t> is an important concept for distributed databases like </a:t>
            </a:r>
            <a:r>
              <a:rPr lang="en-US" b="1" dirty="0"/>
              <a:t>MongoDB</a:t>
            </a:r>
            <a:r>
              <a:rPr lang="en-US" dirty="0"/>
              <a:t>. It explains the </a:t>
            </a:r>
            <a:r>
              <a:rPr lang="en-US" b="1" dirty="0"/>
              <a:t>trade-off between three properties in distributed systems</a:t>
            </a:r>
            <a:r>
              <a:rPr lang="en-US" dirty="0"/>
              <a:t>.</a:t>
            </a:r>
          </a:p>
          <a:p>
            <a:r>
              <a:rPr lang="en-US" b="1" dirty="0"/>
              <a:t>CAP</a:t>
            </a:r>
            <a:r>
              <a:rPr lang="en-US" dirty="0"/>
              <a:t> stands for:</a:t>
            </a:r>
          </a:p>
          <a:p>
            <a:pPr lvl="1"/>
            <a:r>
              <a:rPr lang="en-US" b="1" dirty="0"/>
              <a:t>C – Consistency</a:t>
            </a:r>
            <a:endParaRPr lang="en-US" dirty="0"/>
          </a:p>
          <a:p>
            <a:pPr lvl="1"/>
            <a:r>
              <a:rPr lang="en-US" b="1" dirty="0"/>
              <a:t>A – Availability</a:t>
            </a:r>
            <a:endParaRPr lang="en-US" dirty="0"/>
          </a:p>
          <a:p>
            <a:pPr lvl="1"/>
            <a:r>
              <a:rPr lang="en-US" b="1" dirty="0"/>
              <a:t>P – Partition Tolerance</a:t>
            </a:r>
            <a:endParaRPr lang="en-US" dirty="0"/>
          </a:p>
          <a:p>
            <a:r>
              <a:rPr lang="en-US" dirty="0"/>
              <a:t>The theorem states that </a:t>
            </a:r>
            <a:r>
              <a:rPr lang="en-US" b="1" dirty="0"/>
              <a:t>a distributed database system can guarantee only two out of these three properties at the same time</a:t>
            </a:r>
            <a:r>
              <a:rPr lang="en-US" dirty="0"/>
              <a:t>.</a:t>
            </a:r>
          </a:p>
          <a:p>
            <a:r>
              <a:rPr lang="en-US" dirty="0"/>
              <a:t>A distributed database is a system where data is stored across multiple physically separated locations (nodes) but managed as a single, cohesive database.</a:t>
            </a:r>
          </a:p>
        </p:txBody>
      </p:sp>
      <p:pic>
        <p:nvPicPr>
          <p:cNvPr id="3074" name="Picture 2" descr="Distributed Database Management System (Distributed DBMS)">
            <a:extLst>
              <a:ext uri="{FF2B5EF4-FFF2-40B4-BE49-F238E27FC236}">
                <a16:creationId xmlns:a16="http://schemas.microsoft.com/office/drawing/2014/main" id="{4C04036B-73EB-0DB7-5557-68F4908841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0" t="7749" r="6846" b="6892"/>
          <a:stretch>
            <a:fillRect/>
          </a:stretch>
        </p:blipFill>
        <p:spPr bwMode="auto">
          <a:xfrm>
            <a:off x="7967790" y="972457"/>
            <a:ext cx="4093030" cy="391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79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135C0-0A86-8C0F-46E2-C695CAEC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D292-676E-87ED-D978-458BDDF9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 | Consistency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7D282-33C1-7CB4-68A2-E038C7B22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186493" cy="5590565"/>
          </a:xfrm>
        </p:spPr>
        <p:txBody>
          <a:bodyPr/>
          <a:lstStyle/>
          <a:p>
            <a:r>
              <a:rPr lang="en-US" dirty="0"/>
              <a:t>Consistency means </a:t>
            </a:r>
            <a:r>
              <a:rPr lang="en-US" b="1" dirty="0"/>
              <a:t>all nodes in the system return the same data at the same time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When data is updated, every user immediately sees the </a:t>
            </a:r>
            <a:r>
              <a:rPr lang="en-US" b="1" dirty="0"/>
              <a:t>latest updated value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 outdated data should be returned.</a:t>
            </a:r>
          </a:p>
          <a:p>
            <a:r>
              <a:rPr lang="en-US" dirty="0"/>
              <a:t>Example: If a document is updated by user1 in MongoDB:</a:t>
            </a:r>
          </a:p>
          <a:p>
            <a:pPr lvl="1" algn="l"/>
            <a:r>
              <a:rPr lang="en-IN" dirty="0" err="1"/>
              <a:t>db.students.updateOne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{</a:t>
            </a:r>
            <a:r>
              <a:rPr lang="en-IN" dirty="0" err="1"/>
              <a:t>name:"Ali</a:t>
            </a:r>
            <a:r>
              <a:rPr lang="en-IN" dirty="0"/>
              <a:t>"},</a:t>
            </a:r>
            <a:br>
              <a:rPr lang="en-IN" dirty="0"/>
            </a:br>
            <a:r>
              <a:rPr lang="en-IN" dirty="0"/>
              <a:t>{$set:{marks:90}})</a:t>
            </a:r>
          </a:p>
          <a:p>
            <a:pPr lvl="1" algn="l"/>
            <a:r>
              <a:rPr lang="en-US" dirty="0"/>
              <a:t>All nodes </a:t>
            </a:r>
            <a:r>
              <a:rPr lang="en-US"/>
              <a:t>should update </a:t>
            </a:r>
            <a:r>
              <a:rPr lang="en-US" b="1" dirty="0"/>
              <a:t>marks = 90 immediately for Ali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6D4A14-F6E5-AC26-6305-60DDA4CA7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607" y="711201"/>
            <a:ext cx="5469754" cy="51354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EBF782-9A41-C6CC-9F30-F10DA54271F9}"/>
              </a:ext>
            </a:extLst>
          </p:cNvPr>
          <p:cNvSpPr txBox="1"/>
          <p:nvPr/>
        </p:nvSpPr>
        <p:spPr>
          <a:xfrm>
            <a:off x="6430609" y="3611880"/>
            <a:ext cx="231161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db.students.updateOne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{</a:t>
            </a:r>
            <a:r>
              <a:rPr lang="en-IN" dirty="0" err="1"/>
              <a:t>name:"Ali</a:t>
            </a:r>
            <a:r>
              <a:rPr lang="en-IN" dirty="0"/>
              <a:t>"},</a:t>
            </a:r>
            <a:br>
              <a:rPr lang="en-IN" dirty="0"/>
            </a:br>
            <a:r>
              <a:rPr lang="en-IN" dirty="0"/>
              <a:t>{$set:{marks:90}}</a:t>
            </a:r>
            <a:br>
              <a:rPr lang="en-IN" dirty="0"/>
            </a:br>
            <a:r>
              <a:rPr lang="en-IN" dirty="0"/>
              <a:t>)</a:t>
            </a:r>
            <a:endParaRPr lang="en-US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A94FD9BA-D038-9005-86C2-77F6E3EA3AFD}"/>
              </a:ext>
            </a:extLst>
          </p:cNvPr>
          <p:cNvSpPr/>
          <p:nvPr/>
        </p:nvSpPr>
        <p:spPr>
          <a:xfrm>
            <a:off x="6430607" y="3246120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73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DD0FC-C9A8-DA60-D5BB-28326246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A9D7-406B-DA04-51BD-AE3643C81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 | Availability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EC744-0A5F-F0E8-2615-BCE8FE512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186493" cy="5590565"/>
          </a:xfrm>
        </p:spPr>
        <p:txBody>
          <a:bodyPr/>
          <a:lstStyle/>
          <a:p>
            <a:r>
              <a:rPr lang="en-US" dirty="0"/>
              <a:t>Availability means </a:t>
            </a:r>
            <a:r>
              <a:rPr lang="en-US" b="1" dirty="0"/>
              <a:t>every request receives a response</a:t>
            </a:r>
            <a:r>
              <a:rPr lang="en-US" dirty="0"/>
              <a:t>, even if some nodes fail.</a:t>
            </a:r>
          </a:p>
          <a:p>
            <a:pPr lvl="1"/>
            <a:r>
              <a:rPr lang="en-US" dirty="0"/>
              <a:t>The system continues to work.</a:t>
            </a:r>
          </a:p>
          <a:p>
            <a:pPr lvl="1"/>
            <a:r>
              <a:rPr lang="en-US" dirty="0"/>
              <a:t>The response may not always contain the most recent data.</a:t>
            </a:r>
          </a:p>
          <a:p>
            <a:pPr algn="l"/>
            <a:r>
              <a:rPr lang="en-US" dirty="0"/>
              <a:t>Example: If one MongoDB server fails, another server still handles user queries.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CC2FA3-A17B-0B1F-81C7-A81130531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607" y="711201"/>
            <a:ext cx="5469754" cy="51354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EDD1FD-3278-2B14-03F7-876A4E9B106B}"/>
              </a:ext>
            </a:extLst>
          </p:cNvPr>
          <p:cNvSpPr txBox="1"/>
          <p:nvPr/>
        </p:nvSpPr>
        <p:spPr>
          <a:xfrm>
            <a:off x="6430609" y="3611880"/>
            <a:ext cx="231161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db.students.findOne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{</a:t>
            </a:r>
            <a:r>
              <a:rPr lang="en-IN" dirty="0" err="1"/>
              <a:t>name:"Ali</a:t>
            </a:r>
            <a:r>
              <a:rPr lang="en-IN" dirty="0"/>
              <a:t>"}</a:t>
            </a:r>
            <a:br>
              <a:rPr lang="en-IN" dirty="0"/>
            </a:br>
            <a:r>
              <a:rPr lang="en-IN" dirty="0"/>
              <a:t>)</a:t>
            </a:r>
            <a:endParaRPr lang="en-US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35D418AA-75E3-41BB-2A68-531D8BF43EBA}"/>
              </a:ext>
            </a:extLst>
          </p:cNvPr>
          <p:cNvSpPr/>
          <p:nvPr/>
        </p:nvSpPr>
        <p:spPr>
          <a:xfrm>
            <a:off x="6430607" y="3246120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91EBB3F2-33D2-46C4-2AB7-9EB36B6A20DB}"/>
              </a:ext>
            </a:extLst>
          </p:cNvPr>
          <p:cNvSpPr/>
          <p:nvPr/>
        </p:nvSpPr>
        <p:spPr>
          <a:xfrm>
            <a:off x="6448945" y="1399309"/>
            <a:ext cx="1260763" cy="2029691"/>
          </a:xfrm>
          <a:prstGeom prst="mathMultiply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2982DE-A470-A757-4BB4-9D37139875C9}"/>
              </a:ext>
            </a:extLst>
          </p:cNvPr>
          <p:cNvSpPr/>
          <p:nvPr/>
        </p:nvSpPr>
        <p:spPr>
          <a:xfrm>
            <a:off x="8273143" y="725714"/>
            <a:ext cx="3787677" cy="5135417"/>
          </a:xfrm>
          <a:prstGeom prst="roundRect">
            <a:avLst>
              <a:gd name="adj" fmla="val 6704"/>
            </a:avLst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6183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4" grpId="0" animBg="1"/>
      <p:bldP spid="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EA2AB-31E5-52DD-4961-FA7C2DFD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744B-DC2F-EE90-855D-7B6EA55C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 | </a:t>
            </a:r>
            <a:r>
              <a:rPr lang="en-IN" dirty="0"/>
              <a:t>Partition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27FFF-1552-222A-D5E0-353E0EA20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186493" cy="5590565"/>
          </a:xfrm>
        </p:spPr>
        <p:txBody>
          <a:bodyPr/>
          <a:lstStyle/>
          <a:p>
            <a:r>
              <a:rPr lang="en-US" dirty="0"/>
              <a:t>Partition tolerance means the system </a:t>
            </a:r>
            <a:r>
              <a:rPr lang="en-US" b="1" dirty="0"/>
              <a:t>continues to operate even if communication between nodes is lost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network partition</a:t>
            </a:r>
            <a:r>
              <a:rPr lang="en-US" dirty="0"/>
              <a:t> occurs when nodes cannot communicate due to network failure.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In a MongoDB cluster:</a:t>
            </a:r>
          </a:p>
          <a:p>
            <a:pPr lvl="1"/>
            <a:r>
              <a:rPr lang="en-US" dirty="0"/>
              <a:t>Primary node in </a:t>
            </a:r>
            <a:r>
              <a:rPr lang="en-US" b="1" dirty="0"/>
              <a:t>Server A</a:t>
            </a:r>
            <a:endParaRPr lang="en-US" dirty="0"/>
          </a:p>
          <a:p>
            <a:pPr lvl="1"/>
            <a:r>
              <a:rPr lang="en-US" dirty="0"/>
              <a:t>Secondary node in </a:t>
            </a:r>
            <a:r>
              <a:rPr lang="en-US" b="1" dirty="0"/>
              <a:t>Server B</a:t>
            </a:r>
            <a:endParaRPr lang="en-US" dirty="0"/>
          </a:p>
          <a:p>
            <a:r>
              <a:rPr lang="en-US" dirty="0"/>
              <a:t>If the network between them breaks, the system still tries to operate.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7F82D-6154-81AB-D5A3-FAA76CC17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607" y="711201"/>
            <a:ext cx="5469754" cy="513541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5664A8-95B9-0F29-1085-E4C738442399}"/>
              </a:ext>
            </a:extLst>
          </p:cNvPr>
          <p:cNvSpPr/>
          <p:nvPr/>
        </p:nvSpPr>
        <p:spPr>
          <a:xfrm>
            <a:off x="10529455" y="1597761"/>
            <a:ext cx="1531365" cy="360252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A87E92DD-6BDD-928B-82D9-01748ED448A1}"/>
              </a:ext>
            </a:extLst>
          </p:cNvPr>
          <p:cNvSpPr/>
          <p:nvPr/>
        </p:nvSpPr>
        <p:spPr>
          <a:xfrm>
            <a:off x="10715798" y="2286848"/>
            <a:ext cx="1260763" cy="2029691"/>
          </a:xfrm>
          <a:prstGeom prst="mathMultiply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89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 Rule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370152" cy="5590565"/>
          </a:xfrm>
        </p:spPr>
        <p:txBody>
          <a:bodyPr/>
          <a:lstStyle/>
          <a:p>
            <a:pPr algn="just"/>
            <a:r>
              <a:rPr lang="en-IN" sz="2400" dirty="0"/>
              <a:t>The CAP theorem states that a </a:t>
            </a:r>
            <a:r>
              <a:rPr lang="en-IN" sz="2400" b="1" dirty="0">
                <a:solidFill>
                  <a:schemeClr val="accent6"/>
                </a:solidFill>
              </a:rPr>
              <a:t>distributed system can provide only two of three desired properties</a:t>
            </a:r>
            <a:r>
              <a:rPr lang="en-IN" sz="2400" dirty="0"/>
              <a:t>: consistency, availability, and partition tolerance.</a:t>
            </a:r>
          </a:p>
          <a:p>
            <a:r>
              <a:rPr lang="en-US" dirty="0"/>
              <a:t>But </a:t>
            </a:r>
            <a:r>
              <a:rPr lang="en-US" b="1" dirty="0"/>
              <a:t>C + A + P together is impossible</a:t>
            </a:r>
            <a:r>
              <a:rPr lang="en-US" dirty="0"/>
              <a:t>.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8FDA2-A91A-0AF4-813D-6C05BF891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752" y="863444"/>
            <a:ext cx="5538268" cy="50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4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CAP Theorem | </a:t>
            </a:r>
            <a:r>
              <a:rPr lang="en-IN" dirty="0"/>
              <a:t>CP (Consistency + Partition Tolerance)</a:t>
            </a:r>
            <a:r>
              <a:rPr lang="en-US" dirty="0"/>
              <a:t> with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993848" cy="5590565"/>
          </a:xfrm>
        </p:spPr>
        <p:txBody>
          <a:bodyPr/>
          <a:lstStyle/>
          <a:p>
            <a:r>
              <a:rPr lang="en-US" b="1" dirty="0"/>
              <a:t>MongoDB mainly follows:</a:t>
            </a:r>
            <a:endParaRPr lang="en-US" dirty="0"/>
          </a:p>
          <a:p>
            <a:pPr lvl="1"/>
            <a:r>
              <a:rPr lang="en-US" b="1" dirty="0"/>
              <a:t>CP (Consistency + Partition Tolerance)</a:t>
            </a:r>
            <a:endParaRPr lang="en-US" dirty="0"/>
          </a:p>
          <a:p>
            <a:r>
              <a:rPr lang="en-US" dirty="0"/>
              <a:t>Explanation:</a:t>
            </a:r>
          </a:p>
          <a:p>
            <a:pPr lvl="1"/>
            <a:r>
              <a:rPr lang="en-US" dirty="0"/>
              <a:t>MongoDB maintains </a:t>
            </a:r>
            <a:r>
              <a:rPr lang="en-US" b="1" dirty="0"/>
              <a:t>strong consistency in the primary node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Can handle </a:t>
            </a:r>
            <a:r>
              <a:rPr lang="en-US" b="1" dirty="0"/>
              <a:t>network partitions using replica sets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Availability may be temporarily reduced during failover.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If the </a:t>
            </a:r>
            <a:r>
              <a:rPr lang="en-US" b="1" dirty="0"/>
              <a:t>primary node fails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MongoDB performs </a:t>
            </a:r>
            <a:r>
              <a:rPr lang="en-US" b="1" dirty="0"/>
              <a:t>automatic election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secondary node becomes the new primary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During election, the system may temporarily stop accepting writes.</a:t>
            </a:r>
          </a:p>
          <a:p>
            <a:r>
              <a:rPr lang="en-US" dirty="0"/>
              <a:t>So MongoDB prioritizes:</a:t>
            </a:r>
          </a:p>
          <a:p>
            <a:pPr lvl="1"/>
            <a:r>
              <a:rPr lang="en-US" b="1" dirty="0"/>
              <a:t>Consistency + Partition tolerance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6BD3B-37F7-04D1-B25E-8A87B0B3D6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" t="12532" r="46675" b="52005"/>
          <a:stretch/>
        </p:blipFill>
        <p:spPr>
          <a:xfrm>
            <a:off x="6850191" y="863444"/>
            <a:ext cx="5210629" cy="2033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1B1FBA-84FD-0868-F723-A7D679479E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" t="10912" r="51372" b="23510"/>
          <a:stretch/>
        </p:blipFill>
        <p:spPr>
          <a:xfrm>
            <a:off x="6850191" y="3230538"/>
            <a:ext cx="4394421" cy="321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E4EC-E922-5A93-3641-34671FED5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6744-49B6-A6DD-163F-5826754D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</a:t>
            </a:r>
            <a:r>
              <a:rPr lang="en-US" dirty="0"/>
              <a:t> | </a:t>
            </a:r>
            <a:r>
              <a:rPr lang="en-IN" dirty="0"/>
              <a:t>CP (Consistency + Partition Tolerance)</a:t>
            </a:r>
            <a:r>
              <a:rPr lang="en-US" dirty="0"/>
              <a:t> with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EF9E4-7EB1-DFF9-450A-F5A08C376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63444"/>
            <a:ext cx="6530877" cy="5590565"/>
          </a:xfrm>
        </p:spPr>
        <p:txBody>
          <a:bodyPr/>
          <a:lstStyle/>
          <a:p>
            <a:r>
              <a:rPr lang="en-US" dirty="0"/>
              <a:t>Suppose there are </a:t>
            </a:r>
            <a:r>
              <a:rPr lang="en-US" b="1" dirty="0"/>
              <a:t>3 nodes</a:t>
            </a:r>
            <a:r>
              <a:rPr lang="en-US" dirty="0"/>
              <a:t> in a MongoDB replica set:</a:t>
            </a:r>
          </a:p>
          <a:p>
            <a:pPr lvl="1"/>
            <a:r>
              <a:rPr lang="en-US" dirty="0"/>
              <a:t>Node A – Primary</a:t>
            </a:r>
          </a:p>
          <a:p>
            <a:pPr lvl="1"/>
            <a:r>
              <a:rPr lang="en-US" dirty="0"/>
              <a:t>Node B – Secondary</a:t>
            </a:r>
          </a:p>
          <a:p>
            <a:pPr lvl="1"/>
            <a:r>
              <a:rPr lang="en-US" dirty="0"/>
              <a:t>Node C – Secondary</a:t>
            </a:r>
          </a:p>
          <a:p>
            <a:r>
              <a:rPr lang="en-US" dirty="0"/>
              <a:t>If the network breaks between Node A and the others:</a:t>
            </a:r>
          </a:p>
          <a:p>
            <a:pPr lvl="1"/>
            <a:r>
              <a:rPr lang="en-US" dirty="0"/>
              <a:t>MongoDB may elect a </a:t>
            </a:r>
            <a:r>
              <a:rPr lang="en-US" b="1" dirty="0"/>
              <a:t>new primary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Writes are stopped temporarily to maintain </a:t>
            </a:r>
            <a:r>
              <a:rPr lang="en-US" b="1" dirty="0"/>
              <a:t>data consistency</a:t>
            </a:r>
            <a:r>
              <a:rPr lang="en-US" dirty="0"/>
              <a:t>.</a:t>
            </a:r>
          </a:p>
          <a:p>
            <a:r>
              <a:rPr lang="en-US" dirty="0"/>
              <a:t>This shows </a:t>
            </a:r>
            <a:r>
              <a:rPr lang="en-US" b="1" dirty="0"/>
              <a:t>CP behavior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410B98-768E-8012-ED39-1EAD9F764A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" t="12532" r="46675" b="52005"/>
          <a:stretch/>
        </p:blipFill>
        <p:spPr>
          <a:xfrm>
            <a:off x="6850191" y="863444"/>
            <a:ext cx="5210629" cy="2033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2E1450-A6AF-FFA2-5779-AED921067F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" t="10912" r="51372" b="23510"/>
          <a:stretch/>
        </p:blipFill>
        <p:spPr>
          <a:xfrm>
            <a:off x="6850191" y="3230538"/>
            <a:ext cx="4394421" cy="321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9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Replication and Sharding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- 12</a:t>
            </a:r>
          </a:p>
        </p:txBody>
      </p:sp>
    </p:spTree>
    <p:extLst>
      <p:ext uri="{BB962C8B-B14F-4D97-AF65-F5344CB8AC3E}">
        <p14:creationId xmlns:p14="http://schemas.microsoft.com/office/powerpoint/2010/main" val="34755145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Replication and Sharding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15677" cy="5590565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MongoDB</a:t>
            </a:r>
            <a:r>
              <a:rPr lang="en-US" dirty="0"/>
              <a:t>, </a:t>
            </a:r>
            <a:r>
              <a:rPr lang="en-US" b="1" dirty="0"/>
              <a:t>Replication</a:t>
            </a:r>
            <a:r>
              <a:rPr lang="en-US" dirty="0"/>
              <a:t> and </a:t>
            </a:r>
            <a:r>
              <a:rPr lang="en-US" b="1" dirty="0"/>
              <a:t>Sharding</a:t>
            </a:r>
            <a:r>
              <a:rPr lang="en-US" dirty="0"/>
              <a:t> are two important techniques used to improve </a:t>
            </a:r>
            <a:r>
              <a:rPr lang="en-US" b="1" dirty="0"/>
              <a:t>availability, reliability, and scalability</a:t>
            </a:r>
            <a:r>
              <a:rPr lang="en-US" dirty="0"/>
              <a:t> of the database.</a:t>
            </a:r>
          </a:p>
        </p:txBody>
      </p:sp>
    </p:spTree>
    <p:extLst>
      <p:ext uri="{BB962C8B-B14F-4D97-AF65-F5344CB8AC3E}">
        <p14:creationId xmlns:p14="http://schemas.microsoft.com/office/powerpoint/2010/main" val="59554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BB86E-7B0E-9EDD-23FE-3A5CD74A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0819-B03E-261C-6332-559CA998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69188-65E2-1931-54D9-29516585A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131075" cy="5590565"/>
          </a:xfrm>
        </p:spPr>
        <p:txBody>
          <a:bodyPr/>
          <a:lstStyle/>
          <a:p>
            <a:r>
              <a:rPr lang="en-US" b="1" dirty="0"/>
              <a:t>Replication</a:t>
            </a:r>
            <a:r>
              <a:rPr lang="en-US" dirty="0"/>
              <a:t> is the process of </a:t>
            </a:r>
            <a:r>
              <a:rPr lang="en-US" b="1" dirty="0"/>
              <a:t>copying and maintaining the same data on multiple servers (nodes)</a:t>
            </a:r>
            <a:r>
              <a:rPr lang="en-US" dirty="0"/>
              <a:t> to ensure </a:t>
            </a:r>
            <a:r>
              <a:rPr lang="en-US" b="1" dirty="0"/>
              <a:t>high availability and fault tolerance</a:t>
            </a:r>
            <a:r>
              <a:rPr lang="en-US" dirty="0"/>
              <a:t>.</a:t>
            </a:r>
          </a:p>
          <a:p>
            <a:r>
              <a:rPr lang="en-US" dirty="0"/>
              <a:t>MongoDB uses a </a:t>
            </a:r>
            <a:r>
              <a:rPr lang="en-US" b="1" dirty="0"/>
              <a:t>Replica Set</a:t>
            </a:r>
            <a:r>
              <a:rPr lang="en-US" dirty="0"/>
              <a:t> for replication.</a:t>
            </a:r>
          </a:p>
          <a:p>
            <a:r>
              <a:rPr lang="en-US" b="1" dirty="0"/>
              <a:t>Components of Replica Set</a:t>
            </a:r>
          </a:p>
          <a:p>
            <a:pPr lvl="1"/>
            <a:r>
              <a:rPr lang="en-US" b="1" dirty="0"/>
              <a:t>Primary Node</a:t>
            </a:r>
            <a:endParaRPr lang="en-US" dirty="0"/>
          </a:p>
          <a:p>
            <a:pPr lvl="2"/>
            <a:r>
              <a:rPr lang="en-US" dirty="0"/>
              <a:t>Receives all </a:t>
            </a:r>
            <a:r>
              <a:rPr lang="en-US" b="1" dirty="0"/>
              <a:t>write operations</a:t>
            </a:r>
            <a:r>
              <a:rPr lang="en-US" dirty="0"/>
              <a:t> (insert, update, delete).</a:t>
            </a:r>
          </a:p>
          <a:p>
            <a:pPr lvl="2"/>
            <a:r>
              <a:rPr lang="en-US" dirty="0"/>
              <a:t>Sends data to secondary nodes.</a:t>
            </a:r>
          </a:p>
          <a:p>
            <a:pPr lvl="1"/>
            <a:r>
              <a:rPr lang="en-US" b="1" dirty="0"/>
              <a:t>Secondary Nodes</a:t>
            </a:r>
            <a:endParaRPr lang="en-US" dirty="0"/>
          </a:p>
          <a:p>
            <a:pPr lvl="2"/>
            <a:r>
              <a:rPr lang="en-US" dirty="0"/>
              <a:t>Copy data from the primary node.</a:t>
            </a:r>
          </a:p>
          <a:p>
            <a:pPr lvl="2"/>
            <a:r>
              <a:rPr lang="en-US" dirty="0"/>
              <a:t>Used for </a:t>
            </a:r>
            <a:r>
              <a:rPr lang="en-US" b="1" dirty="0"/>
              <a:t>backup and read operations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Arbiter (optional)</a:t>
            </a:r>
            <a:endParaRPr lang="en-US" dirty="0"/>
          </a:p>
          <a:p>
            <a:pPr lvl="2"/>
            <a:r>
              <a:rPr lang="en-US" dirty="0"/>
              <a:t>Participates in </a:t>
            </a:r>
            <a:r>
              <a:rPr lang="en-US" b="1" dirty="0"/>
              <a:t>election</a:t>
            </a:r>
            <a:r>
              <a:rPr lang="en-US" dirty="0"/>
              <a:t> but does not store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A40BF-7BBD-1AB9-A6C9-F6261A7105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9" r="3210" b="1126"/>
          <a:stretch/>
        </p:blipFill>
        <p:spPr>
          <a:xfrm>
            <a:off x="6262255" y="711201"/>
            <a:ext cx="5929746" cy="50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9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4E9F7-FFEC-FE25-2909-8CE7E345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9A736-63A8-F30F-B9AA-4C108BEE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5214D-B149-5278-0D28-D3A7C65EE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131075" cy="5590565"/>
          </a:xfrm>
        </p:spPr>
        <p:txBody>
          <a:bodyPr/>
          <a:lstStyle/>
          <a:p>
            <a:r>
              <a:rPr lang="en-US" b="1" dirty="0"/>
              <a:t>How Replication Works</a:t>
            </a:r>
          </a:p>
          <a:p>
            <a:pPr lvl="1"/>
            <a:r>
              <a:rPr lang="en-US" dirty="0"/>
              <a:t>Data is written to the </a:t>
            </a:r>
            <a:r>
              <a:rPr lang="en-US" b="1" dirty="0"/>
              <a:t>Primary node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operation is recorded in an </a:t>
            </a:r>
            <a:r>
              <a:rPr lang="en-US" b="1" dirty="0" err="1"/>
              <a:t>oplog</a:t>
            </a:r>
            <a:r>
              <a:rPr lang="en-US" b="1" dirty="0"/>
              <a:t> (operation log)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Secondary nodes read the </a:t>
            </a:r>
            <a:r>
              <a:rPr lang="en-US" b="1" dirty="0" err="1"/>
              <a:t>oplog</a:t>
            </a:r>
            <a:r>
              <a:rPr lang="en-US" dirty="0"/>
              <a:t> and replicate the same changes.</a:t>
            </a:r>
          </a:p>
          <a:p>
            <a:pPr lvl="1"/>
            <a:r>
              <a:rPr lang="en-US" dirty="0"/>
              <a:t>If the primary node fails, a </a:t>
            </a:r>
            <a:r>
              <a:rPr lang="en-US" b="1" dirty="0"/>
              <a:t>secondary node becomes the new primary</a:t>
            </a:r>
            <a:r>
              <a:rPr lang="en-US" dirty="0"/>
              <a:t> automatically.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Replica set with three servers:</a:t>
            </a:r>
          </a:p>
          <a:p>
            <a:pPr lvl="1" algn="l"/>
            <a:r>
              <a:rPr lang="en-US" dirty="0"/>
              <a:t>Primary (Server A)</a:t>
            </a:r>
            <a:br>
              <a:rPr lang="en-US" dirty="0"/>
            </a:br>
            <a:r>
              <a:rPr lang="en-US" dirty="0"/>
              <a:t>     | replication ↓</a:t>
            </a:r>
            <a:br>
              <a:rPr lang="en-US" dirty="0"/>
            </a:br>
            <a:r>
              <a:rPr lang="en-US" dirty="0"/>
              <a:t>     Secondary (Server B)</a:t>
            </a:r>
            <a:br>
              <a:rPr lang="en-US" dirty="0"/>
            </a:br>
            <a:r>
              <a:rPr lang="en-US" dirty="0"/>
              <a:t>     Secondary (Server C)</a:t>
            </a:r>
          </a:p>
          <a:p>
            <a:pPr lvl="1"/>
            <a:r>
              <a:rPr lang="en-US" dirty="0"/>
              <a:t>If </a:t>
            </a:r>
            <a:r>
              <a:rPr lang="en-US" b="1" dirty="0"/>
              <a:t>Server A fails</a:t>
            </a:r>
            <a:r>
              <a:rPr lang="en-US" dirty="0"/>
              <a:t>, MongoDB performs an </a:t>
            </a:r>
            <a:r>
              <a:rPr lang="en-US" b="1" dirty="0"/>
              <a:t>automatic election</a:t>
            </a:r>
            <a:r>
              <a:rPr lang="en-US" dirty="0"/>
              <a:t> and one secondary becomes the new primary.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6DB25F-B43B-D996-9BCE-769FFF6FE2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" t="12532" r="46675" b="52005"/>
          <a:stretch/>
        </p:blipFill>
        <p:spPr>
          <a:xfrm>
            <a:off x="6850191" y="863444"/>
            <a:ext cx="5210629" cy="2033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194B29-1B78-9D36-D1D5-43A27774D7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" t="10912" r="51372" b="23510"/>
          <a:stretch/>
        </p:blipFill>
        <p:spPr>
          <a:xfrm>
            <a:off x="7258294" y="3275783"/>
            <a:ext cx="4394421" cy="3219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F03F6E-9CCF-F40C-7138-6E3745FFA3B0}"/>
              </a:ext>
            </a:extLst>
          </p:cNvPr>
          <p:cNvSpPr txBox="1"/>
          <p:nvPr/>
        </p:nvSpPr>
        <p:spPr>
          <a:xfrm>
            <a:off x="10214098" y="842828"/>
            <a:ext cx="103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Server A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1DE1D-7DB0-D0EC-5105-95C02F96AFC2}"/>
              </a:ext>
            </a:extLst>
          </p:cNvPr>
          <p:cNvSpPr txBox="1"/>
          <p:nvPr/>
        </p:nvSpPr>
        <p:spPr>
          <a:xfrm>
            <a:off x="7205791" y="2864288"/>
            <a:ext cx="103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Server B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165F7-669B-259A-5546-BC1BCF2FA305}"/>
              </a:ext>
            </a:extLst>
          </p:cNvPr>
          <p:cNvSpPr txBox="1"/>
          <p:nvPr/>
        </p:nvSpPr>
        <p:spPr>
          <a:xfrm>
            <a:off x="10863943" y="2864288"/>
            <a:ext cx="103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Server C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82F2D-A4F4-6C3C-FE5A-FEE1595F8C25}"/>
              </a:ext>
            </a:extLst>
          </p:cNvPr>
          <p:cNvSpPr txBox="1"/>
          <p:nvPr/>
        </p:nvSpPr>
        <p:spPr>
          <a:xfrm>
            <a:off x="7430763" y="5484116"/>
            <a:ext cx="103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Server B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1B063E-ACCE-387F-9C8B-274EDA066562}"/>
              </a:ext>
            </a:extLst>
          </p:cNvPr>
          <p:cNvSpPr txBox="1"/>
          <p:nvPr/>
        </p:nvSpPr>
        <p:spPr>
          <a:xfrm>
            <a:off x="10428514" y="5484116"/>
            <a:ext cx="103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Server 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88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4406-54FC-4DA2-5F29-9446C41F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0CCE-4071-AFF5-796C-854D06CE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DBA7D-1835-D0B6-1D6F-6972D3DE8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785049" cy="5590565"/>
          </a:xfrm>
        </p:spPr>
        <p:txBody>
          <a:bodyPr/>
          <a:lstStyle/>
          <a:p>
            <a:r>
              <a:rPr lang="en-US" b="1" dirty="0"/>
              <a:t>Advantages of Replication</a:t>
            </a:r>
          </a:p>
          <a:p>
            <a:pPr lvl="1" algn="l"/>
            <a:r>
              <a:rPr lang="en-US" dirty="0"/>
              <a:t>High availability</a:t>
            </a:r>
          </a:p>
          <a:p>
            <a:pPr lvl="1" algn="l"/>
            <a:r>
              <a:rPr lang="en-US" dirty="0"/>
              <a:t> Data backup and recovery</a:t>
            </a:r>
          </a:p>
          <a:p>
            <a:pPr lvl="1" algn="l"/>
            <a:r>
              <a:rPr lang="en-US" dirty="0"/>
              <a:t>Automatic failover</a:t>
            </a:r>
          </a:p>
          <a:p>
            <a:pPr lvl="1" algn="l"/>
            <a:r>
              <a:rPr lang="en-US" dirty="0"/>
              <a:t>Improved read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42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Sharding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175111" cy="5590565"/>
          </a:xfrm>
        </p:spPr>
        <p:txBody>
          <a:bodyPr/>
          <a:lstStyle/>
          <a:p>
            <a:r>
              <a:rPr lang="en-US" b="1" dirty="0"/>
              <a:t>Sharding</a:t>
            </a:r>
            <a:r>
              <a:rPr lang="en-US" dirty="0"/>
              <a:t> is the process of </a:t>
            </a:r>
            <a:r>
              <a:rPr lang="en-US" b="1" dirty="0"/>
              <a:t>distributing data across multiple servers</a:t>
            </a:r>
            <a:r>
              <a:rPr lang="en-US" dirty="0"/>
              <a:t> to handle </a:t>
            </a:r>
            <a:r>
              <a:rPr lang="en-US" b="1" dirty="0"/>
              <a:t>large datasets and high traffic</a:t>
            </a:r>
            <a:r>
              <a:rPr lang="en-US" dirty="0"/>
              <a:t>.</a:t>
            </a:r>
          </a:p>
          <a:p>
            <a:r>
              <a:rPr lang="en-US" dirty="0"/>
              <a:t>Instead of storing all data on one server, MongoDB </a:t>
            </a:r>
            <a:r>
              <a:rPr lang="en-US" b="1" dirty="0"/>
              <a:t>splits the data into smaller parts called shards</a:t>
            </a:r>
            <a:r>
              <a:rPr lang="en-US" dirty="0"/>
              <a:t>.</a:t>
            </a:r>
          </a:p>
          <a:p>
            <a:r>
              <a:rPr lang="en-US" b="1" dirty="0"/>
              <a:t>Components of Sharded Cluster</a:t>
            </a:r>
          </a:p>
          <a:p>
            <a:pPr lvl="1"/>
            <a:r>
              <a:rPr lang="en-US" b="1" dirty="0"/>
              <a:t>Shard</a:t>
            </a:r>
            <a:endParaRPr lang="en-US" dirty="0"/>
          </a:p>
          <a:p>
            <a:pPr lvl="2"/>
            <a:r>
              <a:rPr lang="en-US" dirty="0"/>
              <a:t>Stores a portion of the data.</a:t>
            </a:r>
          </a:p>
          <a:p>
            <a:pPr lvl="1"/>
            <a:r>
              <a:rPr lang="en-US" b="1" dirty="0"/>
              <a:t>Config Server</a:t>
            </a:r>
            <a:endParaRPr lang="en-US" dirty="0"/>
          </a:p>
          <a:p>
            <a:pPr lvl="2"/>
            <a:r>
              <a:rPr lang="en-US" dirty="0"/>
              <a:t>Stores metadata about the cluster.</a:t>
            </a:r>
          </a:p>
          <a:p>
            <a:pPr lvl="1"/>
            <a:r>
              <a:rPr lang="en-US" b="1" dirty="0"/>
              <a:t>Query Router (mongos)</a:t>
            </a:r>
            <a:endParaRPr lang="en-US" dirty="0"/>
          </a:p>
          <a:p>
            <a:pPr lvl="2"/>
            <a:r>
              <a:rPr lang="en-US" dirty="0"/>
              <a:t>Routes client requests to the correct shard.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DA460-4CAA-6507-F094-1E5C91579B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" r="2275"/>
          <a:stretch/>
        </p:blipFill>
        <p:spPr>
          <a:xfrm>
            <a:off x="5306291" y="711201"/>
            <a:ext cx="6885709" cy="487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9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Suppose a collection contains </a:t>
            </a:r>
            <a:r>
              <a:rPr lang="en-US" b="1" dirty="0"/>
              <a:t>1 crore documents</a:t>
            </a:r>
            <a:r>
              <a:rPr lang="en-US" dirty="0"/>
              <a:t>.</a:t>
            </a:r>
          </a:p>
          <a:p>
            <a:r>
              <a:rPr lang="en-US" dirty="0"/>
              <a:t>Without sharding:</a:t>
            </a:r>
          </a:p>
          <a:p>
            <a:pPr lvl="1" algn="l"/>
            <a:r>
              <a:rPr lang="en-US" dirty="0"/>
              <a:t>Server A</a:t>
            </a:r>
            <a:br>
              <a:rPr lang="en-US" dirty="0"/>
            </a:br>
            <a:r>
              <a:rPr lang="en-US" dirty="0"/>
              <a:t>All 1 crore records</a:t>
            </a:r>
          </a:p>
          <a:p>
            <a:r>
              <a:rPr lang="en-US" dirty="0"/>
              <a:t>With sharding:</a:t>
            </a:r>
          </a:p>
          <a:p>
            <a:pPr lvl="1" algn="l"/>
            <a:r>
              <a:rPr lang="en-US" dirty="0"/>
              <a:t>Shard 1 → records 1–30 lakh</a:t>
            </a:r>
            <a:br>
              <a:rPr lang="en-US" dirty="0"/>
            </a:br>
            <a:r>
              <a:rPr lang="en-US" dirty="0"/>
              <a:t>Shard 2 → records 31–60 lakh</a:t>
            </a:r>
            <a:br>
              <a:rPr lang="en-US" dirty="0"/>
            </a:br>
            <a:r>
              <a:rPr lang="en-US" dirty="0"/>
              <a:t>Shard 3 → records 61–100 lakh</a:t>
            </a:r>
          </a:p>
          <a:p>
            <a:r>
              <a:rPr lang="en-US" dirty="0"/>
              <a:t>Each shard stores </a:t>
            </a:r>
            <a:r>
              <a:rPr lang="en-US" b="1" dirty="0"/>
              <a:t>only part of the data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399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C6748-061F-B9BD-A948-26F9EC19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342D-C271-FFC7-A214-26BEF112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DA5CD-E423-536A-7D86-DDCFE5829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b="1" dirty="0"/>
              <a:t>Advantages of Sharding</a:t>
            </a:r>
          </a:p>
          <a:p>
            <a:pPr lvl="1" algn="l"/>
            <a:r>
              <a:rPr lang="en-US" dirty="0"/>
              <a:t>Handles very large databases</a:t>
            </a:r>
          </a:p>
          <a:p>
            <a:pPr lvl="1" algn="l"/>
            <a:r>
              <a:rPr lang="en-US" dirty="0"/>
              <a:t>Improves system performance</a:t>
            </a:r>
          </a:p>
          <a:p>
            <a:pPr lvl="1" algn="l"/>
            <a:r>
              <a:rPr lang="en-US" dirty="0"/>
              <a:t>Enables horizontal scaling</a:t>
            </a:r>
          </a:p>
          <a:p>
            <a:pPr lvl="1" algn="l"/>
            <a:r>
              <a:rPr lang="en-US" dirty="0"/>
              <a:t>Distributes load across multiple servers</a:t>
            </a:r>
          </a:p>
        </p:txBody>
      </p:sp>
    </p:spTree>
    <p:extLst>
      <p:ext uri="{BB962C8B-B14F-4D97-AF65-F5344CB8AC3E}">
        <p14:creationId xmlns:p14="http://schemas.microsoft.com/office/powerpoint/2010/main" val="49799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b="1" dirty="0"/>
              <a:t>Database Management System-II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(DBMS-II)</a:t>
            </a:r>
          </a:p>
          <a:p>
            <a:r>
              <a:rPr lang="en-US" dirty="0"/>
              <a:t>#2301CS401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firoz.sherasiya@darshan.ac.in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9879879861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/>
              <a:t>Prof. Firoz A. Sherasiya</a:t>
            </a:r>
          </a:p>
        </p:txBody>
      </p:sp>
      <p:pic>
        <p:nvPicPr>
          <p:cNvPr id="4" name="Picture Placeholder 1">
            <a:extLst>
              <a:ext uri="{FF2B5EF4-FFF2-40B4-BE49-F238E27FC236}">
                <a16:creationId xmlns:a16="http://schemas.microsoft.com/office/drawing/2014/main" id="{5FCE9AB1-0037-7AD2-01C7-2F156E82A01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572" y="5214549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9341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13061</TotalTime>
  <Words>7892</Words>
  <Application>Microsoft Office PowerPoint</Application>
  <PresentationFormat>Widescreen</PresentationFormat>
  <Paragraphs>1258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Roboto Condensed Light</vt:lpstr>
      <vt:lpstr>Calibri</vt:lpstr>
      <vt:lpstr>Arial</vt:lpstr>
      <vt:lpstr>Wingdings 3</vt:lpstr>
      <vt:lpstr>Roboto Condensed</vt:lpstr>
      <vt:lpstr>Wingdings 2</vt:lpstr>
      <vt:lpstr>Wingdings</vt:lpstr>
      <vt:lpstr>Office Theme</vt:lpstr>
      <vt:lpstr>Unit-5 Advanced  MongoDB Concepts</vt:lpstr>
      <vt:lpstr>PowerPoint Presentation</vt:lpstr>
      <vt:lpstr>Regex</vt:lpstr>
      <vt:lpstr>Regex                                                                                   [RDBMS: like]</vt:lpstr>
      <vt:lpstr>Regex                                                                                   [RDBMS: like]</vt:lpstr>
      <vt:lpstr>Regex                                                                                   [RDBMS: like]</vt:lpstr>
      <vt:lpstr>$regex                                                                                  [RDBMS: like]</vt:lpstr>
      <vt:lpstr>Regex                                                                                  [RDBMS: like]</vt:lpstr>
      <vt:lpstr>Regex                                                                                  [RDBMS: like]</vt:lpstr>
      <vt:lpstr>Regex                                                                                  [RDBMS: like]</vt:lpstr>
      <vt:lpstr>Exercise (Write query in MongoDB)</vt:lpstr>
      <vt:lpstr>Exercise (Write query in MongoDB)</vt:lpstr>
      <vt:lpstr>Aggregation</vt:lpstr>
      <vt:lpstr>Aggregation                                                            [RDBMS: aggregate]</vt:lpstr>
      <vt:lpstr>Aggregation                              [RDBMS: aggregate]</vt:lpstr>
      <vt:lpstr>Aggregation                                                            [RDBMS: aggregate]</vt:lpstr>
      <vt:lpstr>Group by in SQL vs Aggregate in MongoDB</vt:lpstr>
      <vt:lpstr>How does the MongoDB Aggregation pipeline work?</vt:lpstr>
      <vt:lpstr>Aggregation example                                             [RDBMS: aggregate]</vt:lpstr>
      <vt:lpstr>Aggregation example                                             [RDBMS: aggregate]</vt:lpstr>
      <vt:lpstr>Aggregation example                                             [RDBMS: aggregate]</vt:lpstr>
      <vt:lpstr>Aggregation example                                             [RDBMS: aggregate]</vt:lpstr>
      <vt:lpstr>Aggregation example                                             [RDBMS: aggregate]</vt:lpstr>
      <vt:lpstr>Aggregation example                                             [RDBMS: aggregate]</vt:lpstr>
      <vt:lpstr>Aggregation example                                             [RDBMS: aggregate]</vt:lpstr>
      <vt:lpstr>Exercise (Aggregate | $group)</vt:lpstr>
      <vt:lpstr>Exercise (Aggregate | $group and $match)</vt:lpstr>
      <vt:lpstr>Indexes</vt:lpstr>
      <vt:lpstr>Indexes                                                                             [RDBMS: index]</vt:lpstr>
      <vt:lpstr>Indexes                                                                             [RDBMS: index]</vt:lpstr>
      <vt:lpstr>Indexes                                                                             [RDBMS: index]</vt:lpstr>
      <vt:lpstr>Indexes                                                                             [RDBMS: index]</vt:lpstr>
      <vt:lpstr>Cursor</vt:lpstr>
      <vt:lpstr>Cursor</vt:lpstr>
      <vt:lpstr>Why Cursor is Needed?</vt:lpstr>
      <vt:lpstr>Cursor</vt:lpstr>
      <vt:lpstr>Schema Validation</vt:lpstr>
      <vt:lpstr>Schema Validation                                                  [RDBMS: validation]</vt:lpstr>
      <vt:lpstr>Schema Validation                                                  [RDBMS: validation]</vt:lpstr>
      <vt:lpstr>Schema Validation                                                  [RDBMS: validation]</vt:lpstr>
      <vt:lpstr>Schema Validation                                                  [RDBMS: validation]</vt:lpstr>
      <vt:lpstr>Schema Validation                                                  [RDBMS: validation]</vt:lpstr>
      <vt:lpstr>Schema Validation                                                  [RDBMS: validation]</vt:lpstr>
      <vt:lpstr>Schema Validation                                                  [RDBMS: validation]</vt:lpstr>
      <vt:lpstr>Embedded or Nested Document</vt:lpstr>
      <vt:lpstr>Embedded or Nested Document</vt:lpstr>
      <vt:lpstr>Creating Embedded or Nested Document</vt:lpstr>
      <vt:lpstr>Create user &amp; add role in MongoDB</vt:lpstr>
      <vt:lpstr>Create user &amp; add role in MongoDB</vt:lpstr>
      <vt:lpstr>List the user &amp; drop/delete user</vt:lpstr>
      <vt:lpstr>Backup and Recovery</vt:lpstr>
      <vt:lpstr>Backup</vt:lpstr>
      <vt:lpstr>Backup Example</vt:lpstr>
      <vt:lpstr>Restore</vt:lpstr>
      <vt:lpstr>Backup Example</vt:lpstr>
      <vt:lpstr>Time series</vt:lpstr>
      <vt:lpstr>Time series</vt:lpstr>
      <vt:lpstr>BASE Theorem</vt:lpstr>
      <vt:lpstr>BASE Theorem</vt:lpstr>
      <vt:lpstr>BASE Theorem | Basically Available</vt:lpstr>
      <vt:lpstr>BASE Theorem | Soft State</vt:lpstr>
      <vt:lpstr>BASE Theorem | Eventual Consistency</vt:lpstr>
      <vt:lpstr>BASE Theorem</vt:lpstr>
      <vt:lpstr>BASE Theorem</vt:lpstr>
      <vt:lpstr>CAP Theorem</vt:lpstr>
      <vt:lpstr>CAP Theorem</vt:lpstr>
      <vt:lpstr>CAP Theorem | Consistency</vt:lpstr>
      <vt:lpstr>CAP Theorem | Availability</vt:lpstr>
      <vt:lpstr>CAP Theorem | Partition Tolerance</vt:lpstr>
      <vt:lpstr>CAP Theorem Rule</vt:lpstr>
      <vt:lpstr>CAP Theorem | CP (Consistency + Partition Tolerance) with MongoDB</vt:lpstr>
      <vt:lpstr>Example | CP (Consistency + Partition Tolerance) with MongoDB</vt:lpstr>
      <vt:lpstr>Replication and Sharding</vt:lpstr>
      <vt:lpstr>Replication and Sharding</vt:lpstr>
      <vt:lpstr>Replication</vt:lpstr>
      <vt:lpstr>Replication</vt:lpstr>
      <vt:lpstr>Replication</vt:lpstr>
      <vt:lpstr>Sharding</vt:lpstr>
      <vt:lpstr>Sharding</vt:lpstr>
      <vt:lpstr>Sharding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firoz sherasiya</cp:lastModifiedBy>
  <cp:revision>2145</cp:revision>
  <dcterms:created xsi:type="dcterms:W3CDTF">2020-05-01T05:09:15Z</dcterms:created>
  <dcterms:modified xsi:type="dcterms:W3CDTF">2026-03-16T02:56:04Z</dcterms:modified>
</cp:coreProperties>
</file>